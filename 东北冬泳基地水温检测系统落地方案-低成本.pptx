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H3C-logo-white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H3C-logo-grey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H3C-logo-white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H3C-logo-grey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H3C-logo-white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78D7"/>
              </a:gs>
              <a:gs pos="100000">
                <a:srgbClr val="002E5D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-5715000" y="2095500"/>
            <a:ext cx="9525000" cy="95250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525000" y="-4762500"/>
            <a:ext cx="7620000" cy="76200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FFFFF">
              <a:alpha val="2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0" y="5143500"/>
            <a:ext cx="12192000" cy="1714500"/>
          </a:xfrm>
          <a:custGeom>
            <a:avLst/>
            <a:gdLst/>
            <a:ahLst/>
            <a:cxnLst/>
            <a:rect l="l" t="t" r="r" b="b"/>
            <a:pathLst>
              <a:path w="12192000" h="1714500">
                <a:moveTo>
                  <a:pt x="0" y="762000"/>
                </a:moveTo>
                <a:cubicBezTo>
                  <a:pt x="1905000" y="381000"/>
                  <a:pt x="3810000" y="1143000"/>
                  <a:pt x="6096000" y="571500"/>
                </a:cubicBezTo>
                <a:cubicBezTo>
                  <a:pt x="8382000" y="0"/>
                  <a:pt x="10477500" y="952500"/>
                  <a:pt x="12192000" y="381000"/>
                </a:cubicBezTo>
                <a:lnTo>
                  <a:pt x="12192000" y="1714500"/>
                </a:lnTo>
                <a:lnTo>
                  <a:pt x="0" y="1714500"/>
                </a:lnTo>
                <a:close/>
              </a:path>
            </a:pathLst>
          </a:custGeom>
          <a:solidFill>
            <a:srgbClr val="002E5D">
              <a:alpha val="50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0" y="5524500"/>
            <a:ext cx="12192000" cy="1333500"/>
          </a:xfrm>
          <a:custGeom>
            <a:avLst/>
            <a:gdLst/>
            <a:ahLst/>
            <a:cxnLst/>
            <a:rect l="l" t="t" r="r" b="b"/>
            <a:pathLst>
              <a:path w="12192000" h="1333500">
                <a:moveTo>
                  <a:pt x="0" y="762000"/>
                </a:moveTo>
                <a:cubicBezTo>
                  <a:pt x="1905000" y="381000"/>
                  <a:pt x="3810000" y="1143000"/>
                  <a:pt x="6096000" y="571500"/>
                </a:cubicBezTo>
                <a:cubicBezTo>
                  <a:pt x="8382000" y="0"/>
                  <a:pt x="10477500" y="952500"/>
                  <a:pt x="12192000" y="381000"/>
                </a:cubicBezTo>
                <a:lnTo>
                  <a:pt x="12192000" y="1333500"/>
                </a:lnTo>
                <a:lnTo>
                  <a:pt x="0" y="1333500"/>
                </a:lnTo>
                <a:close/>
              </a:path>
            </a:pathLst>
          </a:custGeom>
          <a:solidFill>
            <a:srgbClr val="4CA1E7">
              <a:alpha val="40000"/>
            </a:srgbClr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0" y="6096000"/>
            <a:ext cx="12192000" cy="762000"/>
          </a:xfrm>
          <a:custGeom>
            <a:avLst/>
            <a:gdLst/>
            <a:ahLst/>
            <a:cxnLst/>
            <a:rect l="l" t="t" r="r" b="b"/>
            <a:pathLst>
              <a:path w="12192000" h="762000">
                <a:moveTo>
                  <a:pt x="0" y="476250"/>
                </a:moveTo>
                <a:cubicBezTo>
                  <a:pt x="1905000" y="285750"/>
                  <a:pt x="3810000" y="762000"/>
                  <a:pt x="6096000" y="381000"/>
                </a:cubicBezTo>
                <a:cubicBezTo>
                  <a:pt x="8382000" y="0"/>
                  <a:pt x="10477500" y="666750"/>
                  <a:pt x="12192000" y="285750"/>
                </a:cubicBezTo>
                <a:lnTo>
                  <a:pt x="12192000" y="762000"/>
                </a:lnTo>
                <a:lnTo>
                  <a:pt x="0" y="762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905000"/>
            <a:ext cx="5715000" cy="38100"/>
          </a:xfrm>
          <a:prstGeom prst="rect">
            <a:avLst/>
          </a:prstGeom>
          <a:solidFill>
            <a:srgbClr val="4CA1E7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4000500"/>
            <a:ext cx="1905000" cy="1905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</p:sp>
      <p:sp>
        <p:nvSpPr>
          <p:cNvPr id="11" name="Polygon 11"/>
          <p:cNvSpPr/>
          <p:nvPr/>
        </p:nvSpPr>
        <p:spPr>
          <a:xfrm>
            <a:off x="8572500" y="2667000"/>
            <a:ext cx="952500" cy="1143000"/>
          </a:xfrm>
          <a:custGeom>
            <a:avLst/>
            <a:gdLst/>
            <a:ahLst/>
            <a:cxnLst/>
            <a:rect l="l" t="t" r="r" b="b"/>
            <a:pathLst>
              <a:path w="952500" h="1143000">
                <a:moveTo>
                  <a:pt x="476250" y="0"/>
                </a:moveTo>
                <a:lnTo>
                  <a:pt x="952500" y="285750"/>
                </a:lnTo>
                <a:lnTo>
                  <a:pt x="952500" y="857250"/>
                </a:lnTo>
                <a:lnTo>
                  <a:pt x="476250" y="1143000"/>
                </a:lnTo>
                <a:lnTo>
                  <a:pt x="0" y="857250"/>
                </a:lnTo>
                <a:lnTo>
                  <a:pt x="0" y="285750"/>
                </a:lnTo>
                <a:close/>
              </a:path>
            </a:pathLst>
          </a:custGeom>
          <a:noFill/>
          <a:ln w="9525">
            <a:solidFill>
              <a:srgbClr val="FFFFFF">
                <a:alpha val="20000"/>
              </a:srgbClr>
            </a:solidFill>
          </a:ln>
        </p:spPr>
      </p:sp>
      <p:sp>
        <p:nvSpPr>
          <p:cNvPr id="12" name="Polygon 12"/>
          <p:cNvSpPr/>
          <p:nvPr/>
        </p:nvSpPr>
        <p:spPr>
          <a:xfrm>
            <a:off x="9239250" y="3238500"/>
            <a:ext cx="952500" cy="1143000"/>
          </a:xfrm>
          <a:custGeom>
            <a:avLst/>
            <a:gdLst/>
            <a:ahLst/>
            <a:cxnLst/>
            <a:rect l="l" t="t" r="r" b="b"/>
            <a:pathLst>
              <a:path w="952500" h="1143000">
                <a:moveTo>
                  <a:pt x="476250" y="0"/>
                </a:moveTo>
                <a:lnTo>
                  <a:pt x="952500" y="285750"/>
                </a:lnTo>
                <a:lnTo>
                  <a:pt x="952500" y="857250"/>
                </a:lnTo>
                <a:lnTo>
                  <a:pt x="476250" y="1143000"/>
                </a:lnTo>
                <a:lnTo>
                  <a:pt x="0" y="857250"/>
                </a:lnTo>
                <a:lnTo>
                  <a:pt x="0" y="285750"/>
                </a:lnTo>
                <a:close/>
              </a:path>
            </a:pathLst>
          </a:custGeom>
          <a:noFill/>
          <a:ln w="9525">
            <a:solidFill>
              <a:srgbClr val="4CA1E7">
                <a:alpha val="30000"/>
              </a:srgbClr>
            </a:solidFill>
          </a:ln>
        </p:spPr>
      </p:sp>
      <p:sp>
        <p:nvSpPr>
          <p:cNvPr id="13" name="Polygon 13"/>
          <p:cNvSpPr/>
          <p:nvPr/>
        </p:nvSpPr>
        <p:spPr>
          <a:xfrm>
            <a:off x="7905750" y="3238500"/>
            <a:ext cx="952500" cy="1143000"/>
          </a:xfrm>
          <a:custGeom>
            <a:avLst/>
            <a:gdLst/>
            <a:ahLst/>
            <a:cxnLst/>
            <a:rect l="l" t="t" r="r" b="b"/>
            <a:pathLst>
              <a:path w="952500" h="1143000">
                <a:moveTo>
                  <a:pt x="476250" y="0"/>
                </a:moveTo>
                <a:lnTo>
                  <a:pt x="952500" y="285750"/>
                </a:lnTo>
                <a:lnTo>
                  <a:pt x="952500" y="857250"/>
                </a:lnTo>
                <a:lnTo>
                  <a:pt x="476250" y="1143000"/>
                </a:lnTo>
                <a:lnTo>
                  <a:pt x="0" y="857250"/>
                </a:lnTo>
                <a:lnTo>
                  <a:pt x="0" y="285750"/>
                </a:lnTo>
                <a:close/>
              </a:path>
            </a:pathLst>
          </a:custGeom>
          <a:noFill/>
          <a:ln w="9525">
            <a:solidFill>
              <a:srgbClr val="FFFFFF">
                <a:alpha val="15000"/>
              </a:srgbClr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591312" y="6363652"/>
            <a:ext cx="30093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  <a:cs typeface="Microsoft YaHei"/>
              </a:rPr>
              <a:t>产品全生命周期管理 · 规范 · 高效 · 可追溯</a:t>
            </a:r>
          </a:p>
        </p:txBody>
      </p:sp>
      <p:pic>
        <p:nvPicPr>
          <p:cNvPr id="15" name="H3C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190500"/>
            <a:ext cx="1238250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hf sldNum="1" dt="0" ftr="0"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3619500" cy="6858000"/>
          </a:xfrm>
          <a:prstGeom prst="rect">
            <a:avLst/>
          </a:prstGeom>
          <a:gradFill>
            <a:gsLst>
              <a:gs pos="0">
                <a:srgbClr val="0078D7"/>
              </a:gs>
              <a:gs pos="100000">
                <a:srgbClr val="002E5D"/>
              </a:gs>
            </a:gsLst>
            <a:lin ang="5400000" scaled="1"/>
          </a:gra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0" y="4445000"/>
            <a:ext cx="3619500" cy="2413000"/>
          </a:xfrm>
          <a:custGeom>
            <a:avLst/>
            <a:gdLst/>
            <a:ahLst/>
            <a:cxnLst/>
            <a:rect l="l" t="t" r="r" b="b"/>
            <a:pathLst>
              <a:path w="3619500" h="2413000">
                <a:moveTo>
                  <a:pt x="0" y="317500"/>
                </a:moveTo>
                <a:cubicBezTo>
                  <a:pt x="1206500" y="0"/>
                  <a:pt x="2413000" y="63500"/>
                  <a:pt x="3619500" y="508000"/>
                </a:cubicBezTo>
                <a:lnTo>
                  <a:pt x="3619500" y="2413000"/>
                </a:lnTo>
                <a:lnTo>
                  <a:pt x="0" y="2413000"/>
                </a:lnTo>
                <a:close/>
              </a:path>
            </a:pathLst>
          </a:custGeom>
          <a:solidFill>
            <a:srgbClr val="FFFFFF">
              <a:alpha val="5000"/>
            </a:srgbClr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0" y="5397500"/>
            <a:ext cx="3619500" cy="1460500"/>
          </a:xfrm>
          <a:custGeom>
            <a:avLst/>
            <a:gdLst/>
            <a:ahLst/>
            <a:cxnLst/>
            <a:rect l="l" t="t" r="r" b="b"/>
            <a:pathLst>
              <a:path w="3619500" h="1460500">
                <a:moveTo>
                  <a:pt x="0" y="317500"/>
                </a:moveTo>
                <a:cubicBezTo>
                  <a:pt x="1206500" y="0"/>
                  <a:pt x="2413000" y="63500"/>
                  <a:pt x="3619500" y="508000"/>
                </a:cubicBezTo>
                <a:lnTo>
                  <a:pt x="3619500" y="1460500"/>
                </a:lnTo>
                <a:lnTo>
                  <a:pt x="0" y="1460500"/>
                </a:lnTo>
                <a:close/>
              </a:path>
            </a:pathLst>
          </a:cu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112330" y="2213610"/>
            <a:ext cx="139484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86828" y="2981325"/>
            <a:ext cx="104584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4CA1E7"/>
                </a:solidFill>
                <a:latin typeface="Arial"/>
                <a:ea typeface="Microsoft YaHei"/>
                <a:cs typeface="Arial"/>
              </a:rPr>
              <a:t>CONTENTS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3429000"/>
            <a:ext cx="1714500" cy="19050"/>
          </a:xfrm>
          <a:prstGeom prst="rect">
            <a:avLst/>
          </a:prstGeom>
          <a:solidFill>
            <a:srgbClr val="4CA1E7">
              <a:alpha val="60000"/>
            </a:srgbClr>
          </a:solidFill>
          <a:ln>
            <a:noFill/>
          </a:ln>
        </p:spPr>
      </p:sp>
      <p:pic>
        <p:nvPicPr>
          <p:cNvPr id="9" name="H3C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190500"/>
            <a:ext cx="1238250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hf sldNum="1" dt="0" ftr="0"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78D7"/>
              </a:gs>
              <a:gs pos="100000">
                <a:srgbClr val="002E5D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-5715000" y="2571750"/>
            <a:ext cx="8572500" cy="85725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0001250" y="-3810000"/>
            <a:ext cx="6667500" cy="66675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76250" y="-476250"/>
            <a:ext cx="2857500" cy="2857500"/>
          </a:xfrm>
          <a:prstGeom prst="ellipse">
            <a:avLst/>
          </a:prstGeom>
          <a:solidFill>
            <a:srgbClr val="4CA1E7">
              <a:alpha val="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8763000" y="3524250"/>
            <a:ext cx="3429000" cy="3429000"/>
          </a:xfrm>
          <a:prstGeom prst="ellipse">
            <a:avLst/>
          </a:prstGeom>
          <a:solidFill>
            <a:srgbClr val="4CA1E7">
              <a:alpha val="4000"/>
            </a:srgbClr>
          </a:solidFill>
          <a:ln>
            <a:noFill/>
          </a:ln>
        </p:spPr>
      </p:sp>
      <p:sp>
        <p:nvSpPr>
          <p:cNvPr id="7" name="Polygon 7"/>
          <p:cNvSpPr/>
          <p:nvPr/>
        </p:nvSpPr>
        <p:spPr>
          <a:xfrm>
            <a:off x="952500" y="2571750"/>
            <a:ext cx="952500" cy="1143000"/>
          </a:xfrm>
          <a:custGeom>
            <a:avLst/>
            <a:gdLst/>
            <a:ahLst/>
            <a:cxnLst/>
            <a:rect l="l" t="t" r="r" b="b"/>
            <a:pathLst>
              <a:path w="952500" h="1143000">
                <a:moveTo>
                  <a:pt x="0" y="285750"/>
                </a:moveTo>
                <a:lnTo>
                  <a:pt x="476250" y="0"/>
                </a:lnTo>
                <a:lnTo>
                  <a:pt x="952500" y="285750"/>
                </a:lnTo>
                <a:lnTo>
                  <a:pt x="952500" y="857250"/>
                </a:lnTo>
                <a:lnTo>
                  <a:pt x="476250" y="1143000"/>
                </a:lnTo>
                <a:lnTo>
                  <a:pt x="0" y="857250"/>
                </a:lnTo>
                <a:close/>
              </a:path>
            </a:pathLst>
          </a:custGeom>
          <a:noFill/>
          <a:ln w="9525">
            <a:solidFill>
              <a:srgbClr val="FFFFFF">
                <a:alpha val="10000"/>
              </a:srgbClr>
            </a:solidFill>
          </a:ln>
        </p:spPr>
      </p:sp>
      <p:sp>
        <p:nvSpPr>
          <p:cNvPr id="8" name="Polygon 8"/>
          <p:cNvSpPr/>
          <p:nvPr/>
        </p:nvSpPr>
        <p:spPr>
          <a:xfrm>
            <a:off x="10287000" y="3524250"/>
            <a:ext cx="952500" cy="1143000"/>
          </a:xfrm>
          <a:custGeom>
            <a:avLst/>
            <a:gdLst/>
            <a:ahLst/>
            <a:cxnLst/>
            <a:rect l="l" t="t" r="r" b="b"/>
            <a:pathLst>
              <a:path w="952500" h="1143000">
                <a:moveTo>
                  <a:pt x="0" y="285750"/>
                </a:moveTo>
                <a:lnTo>
                  <a:pt x="476250" y="0"/>
                </a:lnTo>
                <a:lnTo>
                  <a:pt x="952500" y="285750"/>
                </a:lnTo>
                <a:lnTo>
                  <a:pt x="952500" y="857250"/>
                </a:lnTo>
                <a:lnTo>
                  <a:pt x="476250" y="1143000"/>
                </a:lnTo>
                <a:lnTo>
                  <a:pt x="0" y="857250"/>
                </a:lnTo>
                <a:close/>
              </a:path>
            </a:pathLst>
          </a:custGeom>
          <a:noFill/>
          <a:ln w="9525">
            <a:solidFill>
              <a:srgbClr val="FFFFFF">
                <a:alpha val="10000"/>
              </a:srgbClr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143500" y="2476500"/>
            <a:ext cx="1905000" cy="381000"/>
          </a:xfrm>
          <a:prstGeom prst="rect">
            <a:avLst/>
          </a:prstGeom>
          <a:solidFill>
            <a:srgbClr val="4CA1E7">
              <a:alpha val="30000"/>
            </a:srgbClr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4191000" y="3048000"/>
            <a:ext cx="3810000" cy="28575"/>
          </a:xfrm>
          <a:prstGeom prst="rect">
            <a:avLst/>
          </a:prstGeom>
          <a:solidFill>
            <a:srgbClr val="4CA1E7"/>
          </a:solidFill>
          <a:ln>
            <a:noFill/>
          </a:ln>
        </p:spPr>
      </p:sp>
      <p:pic>
        <p:nvPicPr>
          <p:cNvPr id="11" name="H3C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190500"/>
            <a:ext cx="1238250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hf sldNum="1" dt="0" ftr="0"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81000"/>
            <a:ext cx="95250" cy="381000"/>
          </a:xfrm>
          <a:prstGeom prst="rect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381000" y="952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367665" y="6649402"/>
            <a:ext cx="25186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CONFIDENTIAL - INTERNAL USE ONLY</a:t>
            </a:r>
          </a:p>
        </p:txBody>
      </p:sp>
      <p:pic>
        <p:nvPicPr>
          <p:cNvPr id="7" name="H3C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190500"/>
            <a:ext cx="1238250" cy="476250"/>
          </a:xfrm>
          <a:prstGeom prst="rect">
            <a:avLst/>
          </a:prstGeom>
        </p:spPr>
      </p:pic>
      <p:sp>
        <p:nvSpPr>
          <p:cNvPr id="8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096625" y="6524625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fld id="{8B3F1C2A-4D6E-4A11-9C3B-0F1E2D3C4B5A}" type="slidenum">
              <a:rPr lang="zh-CN" sz="1050" dirty="0">
                <a:solidFill>
                  <a:srgbClr val="666666"/>
                </a:solidFill>
                <a:latin typeface="Microsoft YaHei"/>
                <a:ea typeface="微软雅黑"/>
              </a:rPr>
              <a:t>1</a:t>
            </a:fld>
            <a:endParaRPr lang="zh-CN" sz="1050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hf sldNum="1" dt="0" ftr="0"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78D7"/>
              </a:gs>
              <a:gs pos="100000">
                <a:srgbClr val="002E5D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-4762500" y="0"/>
            <a:ext cx="7620000" cy="76200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810750" y="-476250"/>
            <a:ext cx="6667500" cy="66675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3238500" y="4762500"/>
            <a:ext cx="5715000" cy="5715000"/>
          </a:xfrm>
          <a:prstGeom prst="ellipse">
            <a:avLst/>
          </a:prstGeom>
          <a:solidFill>
            <a:srgbClr val="4CA1E7">
              <a:alpha val="5000"/>
            </a:srgbClr>
          </a:solidFill>
          <a:ln>
            <a:noFill/>
          </a:ln>
        </p:spPr>
      </p:sp>
      <p:sp>
        <p:nvSpPr>
          <p:cNvPr id="6" name="Polygon 6"/>
          <p:cNvSpPr/>
          <p:nvPr/>
        </p:nvSpPr>
        <p:spPr>
          <a:xfrm>
            <a:off x="1428750" y="1619250"/>
            <a:ext cx="952500" cy="1143000"/>
          </a:xfrm>
          <a:custGeom>
            <a:avLst/>
            <a:gdLst/>
            <a:ahLst/>
            <a:cxnLst/>
            <a:rect l="l" t="t" r="r" b="b"/>
            <a:pathLst>
              <a:path w="952500" h="1143000">
                <a:moveTo>
                  <a:pt x="0" y="285750"/>
                </a:moveTo>
                <a:lnTo>
                  <a:pt x="476250" y="0"/>
                </a:lnTo>
                <a:lnTo>
                  <a:pt x="952500" y="285750"/>
                </a:lnTo>
                <a:lnTo>
                  <a:pt x="952500" y="857250"/>
                </a:lnTo>
                <a:lnTo>
                  <a:pt x="476250" y="1143000"/>
                </a:lnTo>
                <a:lnTo>
                  <a:pt x="0" y="857250"/>
                </a:lnTo>
                <a:close/>
              </a:path>
            </a:pathLst>
          </a:custGeom>
          <a:noFill/>
          <a:ln w="9525">
            <a:solidFill>
              <a:srgbClr val="FFFFFF">
                <a:alpha val="10000"/>
              </a:srgbClr>
            </a:solidFill>
          </a:ln>
        </p:spPr>
      </p:sp>
      <p:sp>
        <p:nvSpPr>
          <p:cNvPr id="7" name="Polygon 7"/>
          <p:cNvSpPr/>
          <p:nvPr/>
        </p:nvSpPr>
        <p:spPr>
          <a:xfrm>
            <a:off x="9810750" y="4000500"/>
            <a:ext cx="952500" cy="1143000"/>
          </a:xfrm>
          <a:custGeom>
            <a:avLst/>
            <a:gdLst/>
            <a:ahLst/>
            <a:cxnLst/>
            <a:rect l="l" t="t" r="r" b="b"/>
            <a:pathLst>
              <a:path w="952500" h="1143000">
                <a:moveTo>
                  <a:pt x="0" y="285750"/>
                </a:moveTo>
                <a:lnTo>
                  <a:pt x="476250" y="0"/>
                </a:lnTo>
                <a:lnTo>
                  <a:pt x="952500" y="285750"/>
                </a:lnTo>
                <a:lnTo>
                  <a:pt x="952500" y="857250"/>
                </a:lnTo>
                <a:lnTo>
                  <a:pt x="476250" y="1143000"/>
                </a:lnTo>
                <a:lnTo>
                  <a:pt x="0" y="857250"/>
                </a:lnTo>
                <a:close/>
              </a:path>
            </a:pathLst>
          </a:custGeom>
          <a:noFill/>
          <a:ln w="9525">
            <a:solidFill>
              <a:srgbClr val="FFFFFF">
                <a:alpha val="10000"/>
              </a:srgbClr>
            </a:solidFill>
          </a:ln>
        </p:spPr>
      </p:sp>
      <p:sp>
        <p:nvSpPr>
          <p:cNvPr id="8" name="Polygon 8"/>
          <p:cNvSpPr/>
          <p:nvPr/>
        </p:nvSpPr>
        <p:spPr>
          <a:xfrm>
            <a:off x="1905000" y="4476750"/>
            <a:ext cx="952500" cy="1143000"/>
          </a:xfrm>
          <a:custGeom>
            <a:avLst/>
            <a:gdLst/>
            <a:ahLst/>
            <a:cxnLst/>
            <a:rect l="l" t="t" r="r" b="b"/>
            <a:pathLst>
              <a:path w="952500" h="1143000">
                <a:moveTo>
                  <a:pt x="0" y="285750"/>
                </a:moveTo>
                <a:lnTo>
                  <a:pt x="476250" y="0"/>
                </a:lnTo>
                <a:lnTo>
                  <a:pt x="952500" y="285750"/>
                </a:lnTo>
                <a:lnTo>
                  <a:pt x="952500" y="857250"/>
                </a:lnTo>
                <a:lnTo>
                  <a:pt x="476250" y="1143000"/>
                </a:lnTo>
                <a:lnTo>
                  <a:pt x="0" y="857250"/>
                </a:lnTo>
                <a:close/>
              </a:path>
            </a:pathLst>
          </a:custGeom>
          <a:noFill/>
          <a:ln w="9525">
            <a:solidFill>
              <a:srgbClr val="4CA1E7">
                <a:alpha val="15000"/>
              </a:srgbClr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143500" y="1714500"/>
            <a:ext cx="1905000" cy="28575"/>
          </a:xfrm>
          <a:prstGeom prst="rect">
            <a:avLst/>
          </a:prstGeom>
          <a:solidFill>
            <a:srgbClr val="4CA1E7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143500" y="3810000"/>
            <a:ext cx="1905000" cy="1905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143500" y="4191000"/>
            <a:ext cx="1905000" cy="571500"/>
          </a:xfrm>
          <a:prstGeom prst="rect">
            <a:avLst/>
          </a:prstGeom>
          <a:solidFill>
            <a:srgbClr val="4CA1E7">
              <a:alpha val="20000"/>
            </a:srgbClr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238500" y="5143500"/>
            <a:ext cx="5715000" cy="9525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0" y="5524500"/>
            <a:ext cx="12192000" cy="1333500"/>
          </a:xfrm>
          <a:custGeom>
            <a:avLst/>
            <a:gdLst/>
            <a:ahLst/>
            <a:cxnLst/>
            <a:rect l="l" t="t" r="r" b="b"/>
            <a:pathLst>
              <a:path w="12192000" h="1333500">
                <a:moveTo>
                  <a:pt x="0" y="666750"/>
                </a:moveTo>
                <a:cubicBezTo>
                  <a:pt x="1905000" y="285750"/>
                  <a:pt x="3810000" y="952500"/>
                  <a:pt x="6096000" y="476250"/>
                </a:cubicBezTo>
                <a:cubicBezTo>
                  <a:pt x="8382000" y="0"/>
                  <a:pt x="10477500" y="857250"/>
                  <a:pt x="12192000" y="381000"/>
                </a:cubicBezTo>
                <a:lnTo>
                  <a:pt x="12192000" y="1333500"/>
                </a:lnTo>
                <a:lnTo>
                  <a:pt x="0" y="1333500"/>
                </a:lnTo>
                <a:close/>
              </a:path>
            </a:pathLst>
          </a:custGeom>
          <a:solidFill>
            <a:srgbClr val="002E5D">
              <a:alpha val="40000"/>
            </a:srgbClr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0" y="6000750"/>
            <a:ext cx="12192000" cy="857250"/>
          </a:xfrm>
          <a:custGeom>
            <a:avLst/>
            <a:gdLst/>
            <a:ahLst/>
            <a:cxnLst/>
            <a:rect l="l" t="t" r="r" b="b"/>
            <a:pathLst>
              <a:path w="12192000" h="857250">
                <a:moveTo>
                  <a:pt x="0" y="476250"/>
                </a:moveTo>
                <a:cubicBezTo>
                  <a:pt x="1905000" y="190500"/>
                  <a:pt x="3810000" y="762000"/>
                  <a:pt x="6096000" y="381000"/>
                </a:cubicBezTo>
                <a:cubicBezTo>
                  <a:pt x="8382000" y="0"/>
                  <a:pt x="10477500" y="666750"/>
                  <a:pt x="12192000" y="285750"/>
                </a:cubicBezTo>
                <a:lnTo>
                  <a:pt x="12192000" y="857250"/>
                </a:lnTo>
                <a:lnTo>
                  <a:pt x="0" y="857250"/>
                </a:lnTo>
                <a:close/>
              </a:path>
            </a:pathLst>
          </a:custGeom>
          <a:solidFill>
            <a:srgbClr val="4CA1E7">
              <a:alpha val="30000"/>
            </a:srgbClr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0" y="6381750"/>
            <a:ext cx="12192000" cy="476250"/>
          </a:xfrm>
          <a:custGeom>
            <a:avLst/>
            <a:gdLst/>
            <a:ahLst/>
            <a:cxnLst/>
            <a:rect l="l" t="t" r="r" b="b"/>
            <a:pathLst>
              <a:path w="12192000" h="476250">
                <a:moveTo>
                  <a:pt x="0" y="285750"/>
                </a:moveTo>
                <a:cubicBezTo>
                  <a:pt x="1905000" y="95250"/>
                  <a:pt x="3810000" y="476250"/>
                  <a:pt x="6096000" y="238125"/>
                </a:cubicBezTo>
                <a:cubicBezTo>
                  <a:pt x="8382000" y="0"/>
                  <a:pt x="10477500" y="428625"/>
                  <a:pt x="12192000" y="190500"/>
                </a:cubicBezTo>
                <a:lnTo>
                  <a:pt x="12192000" y="476250"/>
                </a:lnTo>
                <a:lnTo>
                  <a:pt x="0" y="476250"/>
                </a:lnTo>
                <a:close/>
              </a:path>
            </a:pathLst>
          </a:custGeom>
          <a:solidFill>
            <a:srgbClr val="FFFFFF">
              <a:alpha val="8000"/>
            </a:srgbClr>
          </a:solidFill>
          <a:ln>
            <a:noFill/>
          </a:ln>
        </p:spPr>
      </p:sp>
      <p:pic>
        <p:nvPicPr>
          <p:cNvPr id="16" name="H3C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190500"/>
            <a:ext cx="1238250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hf sldNum="1" dt="0" ftr="0" hdr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1" dt="0" ftr="0"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3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3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3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8160" y="2404110"/>
            <a:ext cx="7835646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东北冬泳基地水温检测系统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7685" y="2980372"/>
            <a:ext cx="2203894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落地方案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1020" y="3665220"/>
            <a:ext cx="542391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A0C4E3"/>
                </a:solidFill>
                <a:latin typeface="Microsoft YaHei"/>
                <a:ea typeface="Microsoft YaHei"/>
                <a:cs typeface="Microsoft YaHei"/>
              </a:rPr>
              <a:t>实时监测 · 远程告警 · 数据可视化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0545" y="4584382"/>
            <a:ext cx="16685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  <a:cs typeface="Microsoft YaHei"/>
              </a:rPr>
              <a:t>iClaw 方案团队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4355" y="4997768"/>
            <a:ext cx="7440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0C4E3"/>
                </a:solidFill>
                <a:latin typeface="Microsoft YaHei"/>
                <a:ea typeface="Microsoft YaHei"/>
                <a:cs typeface="Microsoft YaHei"/>
              </a:rPr>
              <a:t>2026-10</a:t>
            </a:r>
          </a:p>
        </p:txBody>
      </p:sp>
      <p:sp>
        <p:nvSpPr>
          <p:cNvPr id="7" name="Freeform 7"/>
          <p:cNvSpPr/>
          <p:nvPr/>
        </p:nvSpPr>
        <p:spPr>
          <a:xfrm>
            <a:off x="7143750" y="1714500"/>
            <a:ext cx="3810000" cy="3333750"/>
          </a:xfrm>
          <a:custGeom>
            <a:avLst/>
            <a:gdLst/>
            <a:ahLst/>
            <a:cxnLst/>
            <a:rect l="l" t="t" r="r" b="b"/>
            <a:pathLst>
              <a:path w="3810000" h="3333750">
                <a:moveTo>
                  <a:pt x="95250" y="0"/>
                </a:moveTo>
                <a:lnTo>
                  <a:pt x="3714750" y="0"/>
                </a:lnTo>
                <a:cubicBezTo>
                  <a:pt x="3767355" y="0"/>
                  <a:pt x="3810000" y="42645"/>
                  <a:pt x="3810000" y="95250"/>
                </a:cubicBezTo>
                <a:lnTo>
                  <a:pt x="3810000" y="3238500"/>
                </a:lnTo>
                <a:cubicBezTo>
                  <a:pt x="3810000" y="3291105"/>
                  <a:pt x="3767355" y="3333750"/>
                  <a:pt x="3714750" y="3333750"/>
                </a:cubicBezTo>
                <a:lnTo>
                  <a:pt x="95250" y="3333750"/>
                </a:lnTo>
                <a:cubicBezTo>
                  <a:pt x="42645" y="3333750"/>
                  <a:pt x="0" y="3291105"/>
                  <a:pt x="0" y="3238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20000"/>
              </a:srgbClr>
            </a:solidFill>
            <a:custDash>
              <a:ds d="400000" sp="400000"/>
            </a:custDash>
          </a:ln>
        </p:spPr>
      </p:sp>
      <p:sp>
        <p:nvSpPr>
          <p:cNvPr id="8" name="Freeform 8"/>
          <p:cNvSpPr/>
          <p:nvPr/>
        </p:nvSpPr>
        <p:spPr>
          <a:xfrm>
            <a:off x="7429500" y="2000250"/>
            <a:ext cx="3238500" cy="2762250"/>
          </a:xfrm>
          <a:custGeom>
            <a:avLst/>
            <a:gdLst/>
            <a:ahLst/>
            <a:cxnLst/>
            <a:rect l="l" t="t" r="r" b="b"/>
            <a:pathLst>
              <a:path w="3238500" h="2762250">
                <a:moveTo>
                  <a:pt x="76200" y="0"/>
                </a:moveTo>
                <a:lnTo>
                  <a:pt x="3162300" y="0"/>
                </a:lnTo>
                <a:cubicBezTo>
                  <a:pt x="3204384" y="0"/>
                  <a:pt x="3238500" y="34116"/>
                  <a:pt x="3238500" y="76200"/>
                </a:cubicBezTo>
                <a:lnTo>
                  <a:pt x="3238500" y="2686050"/>
                </a:lnTo>
                <a:cubicBezTo>
                  <a:pt x="3238500" y="2728134"/>
                  <a:pt x="3204384" y="2762250"/>
                  <a:pt x="3162300" y="2762250"/>
                </a:cubicBezTo>
                <a:lnTo>
                  <a:pt x="76200" y="2762250"/>
                </a:lnTo>
                <a:cubicBezTo>
                  <a:pt x="34116" y="2762250"/>
                  <a:pt x="0" y="2728134"/>
                  <a:pt x="0" y="2686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4CA1E7">
                <a:alpha val="30000"/>
              </a:srgbClr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91000" y="1333500"/>
            <a:ext cx="7429500" cy="952500"/>
          </a:xfrm>
          <a:custGeom>
            <a:avLst/>
            <a:gdLst/>
            <a:ahLst/>
            <a:cxnLst/>
            <a:rect l="l" t="t" r="r" b="b"/>
            <a:pathLst>
              <a:path w="7429500" h="952500">
                <a:moveTo>
                  <a:pt x="76200" y="0"/>
                </a:moveTo>
                <a:lnTo>
                  <a:pt x="7353300" y="0"/>
                </a:lnTo>
                <a:cubicBezTo>
                  <a:pt x="7395384" y="0"/>
                  <a:pt x="7429500" y="34116"/>
                  <a:pt x="7429500" y="76200"/>
                </a:cubicBezTo>
                <a:lnTo>
                  <a:pt x="7429500" y="876300"/>
                </a:lnTo>
                <a:cubicBezTo>
                  <a:pt x="7429500" y="918384"/>
                  <a:pt x="7395384" y="952500"/>
                  <a:pt x="73533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5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191000" y="1333500"/>
            <a:ext cx="76200" cy="952500"/>
          </a:xfrm>
          <a:prstGeom prst="rect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537710" y="1470660"/>
            <a:ext cx="42052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78D7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11140" y="1596390"/>
            <a:ext cx="22539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项目定位与可行性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19712" y="1993106"/>
            <a:ext cx="33639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痛点诊断 / 方案价值 / 市场与技术经济可行性</a:t>
            </a:r>
          </a:p>
        </p:txBody>
      </p:sp>
      <p:sp>
        <p:nvSpPr>
          <p:cNvPr id="7" name="Freeform 7"/>
          <p:cNvSpPr/>
          <p:nvPr/>
        </p:nvSpPr>
        <p:spPr>
          <a:xfrm>
            <a:off x="4191000" y="2476500"/>
            <a:ext cx="7429500" cy="952500"/>
          </a:xfrm>
          <a:custGeom>
            <a:avLst/>
            <a:gdLst/>
            <a:ahLst/>
            <a:cxnLst/>
            <a:rect l="l" t="t" r="r" b="b"/>
            <a:pathLst>
              <a:path w="7429500" h="952500">
                <a:moveTo>
                  <a:pt x="76200" y="0"/>
                </a:moveTo>
                <a:lnTo>
                  <a:pt x="7353300" y="0"/>
                </a:lnTo>
                <a:cubicBezTo>
                  <a:pt x="7395384" y="0"/>
                  <a:pt x="7429500" y="34116"/>
                  <a:pt x="7429500" y="76200"/>
                </a:cubicBezTo>
                <a:lnTo>
                  <a:pt x="7429500" y="876300"/>
                </a:lnTo>
                <a:cubicBezTo>
                  <a:pt x="7429500" y="918384"/>
                  <a:pt x="7395384" y="952500"/>
                  <a:pt x="73533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5F7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4191000" y="2476500"/>
            <a:ext cx="76200" cy="952500"/>
          </a:xfrm>
          <a:prstGeom prst="rect">
            <a:avLst/>
          </a:prstGeom>
          <a:solidFill>
            <a:srgbClr val="4CA1E7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537710" y="2613660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4CA1E7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11140" y="2739390"/>
            <a:ext cx="25300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技术方案与系统组成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319712" y="3136106"/>
            <a:ext cx="37665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感知 / 传输 / 云平台 / 应用终端 / 供电 / 六大模块</a:t>
            </a:r>
          </a:p>
        </p:txBody>
      </p:sp>
      <p:sp>
        <p:nvSpPr>
          <p:cNvPr id="12" name="Freeform 12"/>
          <p:cNvSpPr/>
          <p:nvPr/>
        </p:nvSpPr>
        <p:spPr>
          <a:xfrm>
            <a:off x="4191000" y="3619500"/>
            <a:ext cx="7429500" cy="952500"/>
          </a:xfrm>
          <a:custGeom>
            <a:avLst/>
            <a:gdLst/>
            <a:ahLst/>
            <a:cxnLst/>
            <a:rect l="l" t="t" r="r" b="b"/>
            <a:pathLst>
              <a:path w="7429500" h="952500">
                <a:moveTo>
                  <a:pt x="76200" y="0"/>
                </a:moveTo>
                <a:lnTo>
                  <a:pt x="7353300" y="0"/>
                </a:lnTo>
                <a:cubicBezTo>
                  <a:pt x="7395384" y="0"/>
                  <a:pt x="7429500" y="34116"/>
                  <a:pt x="7429500" y="76200"/>
                </a:cubicBezTo>
                <a:lnTo>
                  <a:pt x="7429500" y="876300"/>
                </a:lnTo>
                <a:cubicBezTo>
                  <a:pt x="7429500" y="918384"/>
                  <a:pt x="7395384" y="952500"/>
                  <a:pt x="73533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5F7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4191000" y="3619500"/>
            <a:ext cx="76200" cy="952500"/>
          </a:xfrm>
          <a:prstGeom prst="rect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537710" y="3756660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78D7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11140" y="3882390"/>
            <a:ext cx="25300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成本方案与市场分析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19712" y="4279106"/>
            <a:ext cx="3060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硬件成本 / 定价套餐 / 毛利率 / 竞品对比</a:t>
            </a:r>
          </a:p>
        </p:txBody>
      </p:sp>
      <p:sp>
        <p:nvSpPr>
          <p:cNvPr id="17" name="Freeform 17"/>
          <p:cNvSpPr/>
          <p:nvPr/>
        </p:nvSpPr>
        <p:spPr>
          <a:xfrm>
            <a:off x="4191000" y="4762500"/>
            <a:ext cx="7429500" cy="952500"/>
          </a:xfrm>
          <a:custGeom>
            <a:avLst/>
            <a:gdLst/>
            <a:ahLst/>
            <a:cxnLst/>
            <a:rect l="l" t="t" r="r" b="b"/>
            <a:pathLst>
              <a:path w="7429500" h="952500">
                <a:moveTo>
                  <a:pt x="76200" y="0"/>
                </a:moveTo>
                <a:lnTo>
                  <a:pt x="7353300" y="0"/>
                </a:lnTo>
                <a:cubicBezTo>
                  <a:pt x="7395384" y="0"/>
                  <a:pt x="7429500" y="34116"/>
                  <a:pt x="7429500" y="76200"/>
                </a:cubicBezTo>
                <a:lnTo>
                  <a:pt x="7429500" y="876300"/>
                </a:lnTo>
                <a:cubicBezTo>
                  <a:pt x="7429500" y="918384"/>
                  <a:pt x="7395384" y="952500"/>
                  <a:pt x="73533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5F7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4191000" y="4762500"/>
            <a:ext cx="76200" cy="952500"/>
          </a:xfrm>
          <a:prstGeom prst="rect">
            <a:avLst/>
          </a:prstGeom>
          <a:solidFill>
            <a:srgbClr val="4CA1E7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537710" y="4899660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4CA1E7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11140" y="5025390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销售与扩展计划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19712" y="5422106"/>
            <a:ext cx="33886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目标客户 / 销售打法 / 盈利模式 / 里程碑路线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27878" y="1238250"/>
            <a:ext cx="2336244" cy="304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0" b="1" dirty="0">
                <a:solidFill>
                  <a:srgbClr val="FFFFFF">
                    <a:alpha val="12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090672" y="3577590"/>
            <a:ext cx="6010656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项目定位与可行性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28975" y="4524375"/>
            <a:ext cx="57340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A0C4E3"/>
                </a:solidFill>
                <a:latin typeface="Microsoft YaHei"/>
                <a:ea typeface="Microsoft YaHei"/>
                <a:cs typeface="Microsoft YaHei"/>
              </a:rPr>
              <a:t>从人工测量的痛点出发，验证市场、技术、经济三维可行性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2460" y="394335"/>
            <a:ext cx="516141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挑 战：极寒泳池的测温之痛</a:t>
            </a:r>
          </a:p>
        </p:txBody>
      </p:sp>
      <p:sp>
        <p:nvSpPr>
          <p:cNvPr id="3" name="Rectangle 3"/>
          <p:cNvSpPr/>
          <p:nvPr/>
        </p:nvSpPr>
        <p:spPr>
          <a:xfrm>
            <a:off x="666750" y="857250"/>
            <a:ext cx="1143000" cy="57150"/>
          </a:xfrm>
          <a:prstGeom prst="rect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2462" y="1021556"/>
            <a:ext cx="449770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目标场景：东北户外冬泳基地 ｜ 气温低至 -30℃ ｜ 水温 0~8℃</a:t>
            </a:r>
          </a:p>
        </p:txBody>
      </p:sp>
      <p:sp>
        <p:nvSpPr>
          <p:cNvPr id="5" name="Freeform 5"/>
          <p:cNvSpPr/>
          <p:nvPr/>
        </p:nvSpPr>
        <p:spPr>
          <a:xfrm>
            <a:off x="666750" y="1428750"/>
            <a:ext cx="1714500" cy="533400"/>
          </a:xfrm>
          <a:custGeom>
            <a:avLst/>
            <a:gdLst/>
            <a:ahLst/>
            <a:cxnLst/>
            <a:rect l="l" t="t" r="r" b="b"/>
            <a:pathLst>
              <a:path w="1714500" h="533400">
                <a:moveTo>
                  <a:pt x="76200" y="0"/>
                </a:moveTo>
                <a:lnTo>
                  <a:pt x="1638300" y="0"/>
                </a:lnTo>
                <a:cubicBezTo>
                  <a:pt x="1680384" y="0"/>
                  <a:pt x="1714500" y="34116"/>
                  <a:pt x="1714500" y="76200"/>
                </a:cubicBezTo>
                <a:lnTo>
                  <a:pt x="1714500" y="457200"/>
                </a:lnTo>
                <a:cubicBezTo>
                  <a:pt x="1714500" y="499284"/>
                  <a:pt x="1680384" y="533400"/>
                  <a:pt x="1638300" y="533400"/>
                </a:cubicBezTo>
                <a:lnTo>
                  <a:pt x="76200" y="533400"/>
                </a:lnTo>
                <a:cubicBezTo>
                  <a:pt x="34116" y="533400"/>
                  <a:pt x="0" y="499284"/>
                  <a:pt x="0" y="457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87385" y="1533525"/>
            <a:ext cx="10732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气温 -30℃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8235" y="178879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7CA6"/>
                </a:solidFill>
                <a:latin typeface="Microsoft YaHei"/>
                <a:ea typeface="Microsoft YaHei"/>
                <a:cs typeface="Microsoft YaHei"/>
              </a:rPr>
              <a:t>极端严寒户外</a:t>
            </a:r>
          </a:p>
        </p:txBody>
      </p:sp>
      <p:sp>
        <p:nvSpPr>
          <p:cNvPr id="8" name="Freeform 8"/>
          <p:cNvSpPr/>
          <p:nvPr/>
        </p:nvSpPr>
        <p:spPr>
          <a:xfrm>
            <a:off x="2552700" y="1428750"/>
            <a:ext cx="1714500" cy="533400"/>
          </a:xfrm>
          <a:custGeom>
            <a:avLst/>
            <a:gdLst/>
            <a:ahLst/>
            <a:cxnLst/>
            <a:rect l="l" t="t" r="r" b="b"/>
            <a:pathLst>
              <a:path w="1714500" h="533400">
                <a:moveTo>
                  <a:pt x="76200" y="0"/>
                </a:moveTo>
                <a:lnTo>
                  <a:pt x="1638300" y="0"/>
                </a:lnTo>
                <a:cubicBezTo>
                  <a:pt x="1680384" y="0"/>
                  <a:pt x="1714500" y="34116"/>
                  <a:pt x="1714500" y="76200"/>
                </a:cubicBezTo>
                <a:lnTo>
                  <a:pt x="1714500" y="457200"/>
                </a:lnTo>
                <a:cubicBezTo>
                  <a:pt x="1714500" y="499284"/>
                  <a:pt x="1680384" y="533400"/>
                  <a:pt x="1638300" y="533400"/>
                </a:cubicBezTo>
                <a:lnTo>
                  <a:pt x="76200" y="533400"/>
                </a:lnTo>
                <a:cubicBezTo>
                  <a:pt x="34116" y="533400"/>
                  <a:pt x="0" y="499284"/>
                  <a:pt x="0" y="457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873335" y="1533525"/>
            <a:ext cx="10732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水温 0~8℃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04185" y="178879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7CA6"/>
                </a:solidFill>
                <a:latin typeface="Microsoft YaHei"/>
                <a:ea typeface="Microsoft YaHei"/>
                <a:cs typeface="Microsoft YaHei"/>
              </a:rPr>
              <a:t>冰点临界水域</a:t>
            </a:r>
          </a:p>
        </p:txBody>
      </p:sp>
      <p:sp>
        <p:nvSpPr>
          <p:cNvPr id="11" name="Freeform 11"/>
          <p:cNvSpPr/>
          <p:nvPr/>
        </p:nvSpPr>
        <p:spPr>
          <a:xfrm>
            <a:off x="4438650" y="1428750"/>
            <a:ext cx="5334000" cy="533400"/>
          </a:xfrm>
          <a:custGeom>
            <a:avLst/>
            <a:gdLst/>
            <a:ahLst/>
            <a:cxnLst/>
            <a:rect l="l" t="t" r="r" b="b"/>
            <a:pathLst>
              <a:path w="5334000" h="5334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57200"/>
                </a:lnTo>
                <a:cubicBezTo>
                  <a:pt x="5334000" y="499284"/>
                  <a:pt x="5299884" y="533400"/>
                  <a:pt x="5257800" y="533400"/>
                </a:cubicBezTo>
                <a:lnTo>
                  <a:pt x="76200" y="533400"/>
                </a:lnTo>
                <a:cubicBezTo>
                  <a:pt x="34116" y="533400"/>
                  <a:pt x="0" y="499284"/>
                  <a:pt x="0" y="457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4E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535811" y="1549718"/>
            <a:ext cx="31396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8871E"/>
                </a:solidFill>
                <a:latin typeface="Microsoft YaHei"/>
                <a:ea typeface="Microsoft YaHei"/>
                <a:cs typeface="Microsoft YaHei"/>
              </a:rPr>
              <a:t>生命安全风险高，温度监测是刚需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48325" y="1779270"/>
            <a:ext cx="29146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B5761E"/>
                </a:solidFill>
                <a:latin typeface="Microsoft YaHei"/>
                <a:ea typeface="Microsoft YaHei"/>
                <a:cs typeface="Microsoft YaHei"/>
              </a:rPr>
              <a:t>长时间低温入水，体温流失快，实时测温至关重要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7700" y="2238375"/>
            <a:ext cx="18783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现有方式五大痛点</a:t>
            </a:r>
          </a:p>
        </p:txBody>
      </p:sp>
      <p:sp>
        <p:nvSpPr>
          <p:cNvPr id="15" name="Freeform 15"/>
          <p:cNvSpPr/>
          <p:nvPr/>
        </p:nvSpPr>
        <p:spPr>
          <a:xfrm>
            <a:off x="666750" y="2590800"/>
            <a:ext cx="3390900" cy="1428750"/>
          </a:xfrm>
          <a:custGeom>
            <a:avLst/>
            <a:gdLst/>
            <a:ahLst/>
            <a:cxnLst/>
            <a:rect l="l" t="t" r="r" b="b"/>
            <a:pathLst>
              <a:path w="3390900" h="1428750">
                <a:moveTo>
                  <a:pt x="76200" y="0"/>
                </a:moveTo>
                <a:lnTo>
                  <a:pt x="3314700" y="0"/>
                </a:lnTo>
                <a:cubicBezTo>
                  <a:pt x="3356784" y="0"/>
                  <a:pt x="3390900" y="34116"/>
                  <a:pt x="3390900" y="76200"/>
                </a:cubicBezTo>
                <a:lnTo>
                  <a:pt x="3390900" y="1352550"/>
                </a:lnTo>
                <a:cubicBezTo>
                  <a:pt x="3390900" y="1394634"/>
                  <a:pt x="3356784" y="1428750"/>
                  <a:pt x="3314700" y="1428750"/>
                </a:cubicBezTo>
                <a:lnTo>
                  <a:pt x="76200" y="1428750"/>
                </a:lnTo>
                <a:cubicBezTo>
                  <a:pt x="34116" y="1428750"/>
                  <a:pt x="0" y="1394634"/>
                  <a:pt x="0" y="1352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7F8F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59155" y="2768918"/>
            <a:ext cx="10383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① 人工测温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2965" y="3048952"/>
            <a:ext cx="34004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靠温度计现场人工读取，费时费力，依赖专人值守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62965" y="327755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多人多次，误差大、效率低</a:t>
            </a:r>
          </a:p>
        </p:txBody>
      </p:sp>
      <p:sp>
        <p:nvSpPr>
          <p:cNvPr id="19" name="Freeform 19"/>
          <p:cNvSpPr/>
          <p:nvPr/>
        </p:nvSpPr>
        <p:spPr>
          <a:xfrm>
            <a:off x="4229100" y="2590800"/>
            <a:ext cx="3390900" cy="1428750"/>
          </a:xfrm>
          <a:custGeom>
            <a:avLst/>
            <a:gdLst/>
            <a:ahLst/>
            <a:cxnLst/>
            <a:rect l="l" t="t" r="r" b="b"/>
            <a:pathLst>
              <a:path w="3390900" h="1428750">
                <a:moveTo>
                  <a:pt x="76200" y="0"/>
                </a:moveTo>
                <a:lnTo>
                  <a:pt x="3314700" y="0"/>
                </a:lnTo>
                <a:cubicBezTo>
                  <a:pt x="3356784" y="0"/>
                  <a:pt x="3390900" y="34116"/>
                  <a:pt x="3390900" y="76200"/>
                </a:cubicBezTo>
                <a:lnTo>
                  <a:pt x="3390900" y="1352550"/>
                </a:lnTo>
                <a:cubicBezTo>
                  <a:pt x="3390900" y="1394634"/>
                  <a:pt x="3356784" y="1428750"/>
                  <a:pt x="3314700" y="1428750"/>
                </a:cubicBezTo>
                <a:lnTo>
                  <a:pt x="76200" y="1428750"/>
                </a:lnTo>
                <a:cubicBezTo>
                  <a:pt x="34116" y="1428750"/>
                  <a:pt x="0" y="1394634"/>
                  <a:pt x="0" y="1352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7F8FA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421505" y="2768918"/>
            <a:ext cx="831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② 非实时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25315" y="304895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无法连续自动采集，数据滞后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25315" y="327755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突发降温不能第一时间感知</a:t>
            </a:r>
          </a:p>
        </p:txBody>
      </p:sp>
      <p:sp>
        <p:nvSpPr>
          <p:cNvPr id="23" name="Freeform 23"/>
          <p:cNvSpPr/>
          <p:nvPr/>
        </p:nvSpPr>
        <p:spPr>
          <a:xfrm>
            <a:off x="7791450" y="2590800"/>
            <a:ext cx="3390900" cy="1428750"/>
          </a:xfrm>
          <a:custGeom>
            <a:avLst/>
            <a:gdLst/>
            <a:ahLst/>
            <a:cxnLst/>
            <a:rect l="l" t="t" r="r" b="b"/>
            <a:pathLst>
              <a:path w="3390900" h="1428750">
                <a:moveTo>
                  <a:pt x="76200" y="0"/>
                </a:moveTo>
                <a:lnTo>
                  <a:pt x="3314700" y="0"/>
                </a:lnTo>
                <a:cubicBezTo>
                  <a:pt x="3356784" y="0"/>
                  <a:pt x="3390900" y="34116"/>
                  <a:pt x="3390900" y="76200"/>
                </a:cubicBezTo>
                <a:lnTo>
                  <a:pt x="3390900" y="1352550"/>
                </a:lnTo>
                <a:cubicBezTo>
                  <a:pt x="3390900" y="1394634"/>
                  <a:pt x="3356784" y="1428750"/>
                  <a:pt x="3314700" y="1428750"/>
                </a:cubicBezTo>
                <a:lnTo>
                  <a:pt x="76200" y="1428750"/>
                </a:lnTo>
                <a:cubicBezTo>
                  <a:pt x="34116" y="1428750"/>
                  <a:pt x="0" y="1394634"/>
                  <a:pt x="0" y="1352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7F8F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983855" y="2768918"/>
            <a:ext cx="831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③ 不安全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87665" y="3048952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测温人员需靠近冰面，易滑倒坠水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87665" y="3277552"/>
            <a:ext cx="17978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夜间/恶劣天气巡查风险高</a:t>
            </a:r>
          </a:p>
        </p:txBody>
      </p:sp>
      <p:sp>
        <p:nvSpPr>
          <p:cNvPr id="27" name="Freeform 27"/>
          <p:cNvSpPr/>
          <p:nvPr/>
        </p:nvSpPr>
        <p:spPr>
          <a:xfrm>
            <a:off x="666750" y="4171950"/>
            <a:ext cx="3390900" cy="1428750"/>
          </a:xfrm>
          <a:custGeom>
            <a:avLst/>
            <a:gdLst/>
            <a:ahLst/>
            <a:cxnLst/>
            <a:rect l="l" t="t" r="r" b="b"/>
            <a:pathLst>
              <a:path w="3390900" h="1428750">
                <a:moveTo>
                  <a:pt x="76200" y="0"/>
                </a:moveTo>
                <a:lnTo>
                  <a:pt x="3314700" y="0"/>
                </a:lnTo>
                <a:cubicBezTo>
                  <a:pt x="3356784" y="0"/>
                  <a:pt x="3390900" y="34116"/>
                  <a:pt x="3390900" y="76200"/>
                </a:cubicBezTo>
                <a:lnTo>
                  <a:pt x="3390900" y="1352550"/>
                </a:lnTo>
                <a:cubicBezTo>
                  <a:pt x="3390900" y="1394634"/>
                  <a:pt x="3356784" y="1428750"/>
                  <a:pt x="3314700" y="1428750"/>
                </a:cubicBezTo>
                <a:lnTo>
                  <a:pt x="76200" y="1428750"/>
                </a:lnTo>
                <a:cubicBezTo>
                  <a:pt x="34116" y="1428750"/>
                  <a:pt x="0" y="1394634"/>
                  <a:pt x="0" y="1352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7F8FA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59155" y="4350068"/>
            <a:ext cx="10383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④ 不可追溯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2965" y="463010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历史数据无留存，无法复盘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62965" y="485870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难以支撑运营决策与安全台账</a:t>
            </a:r>
          </a:p>
        </p:txBody>
      </p:sp>
      <p:sp>
        <p:nvSpPr>
          <p:cNvPr id="31" name="Freeform 31"/>
          <p:cNvSpPr/>
          <p:nvPr/>
        </p:nvSpPr>
        <p:spPr>
          <a:xfrm>
            <a:off x="4229100" y="4171950"/>
            <a:ext cx="3390900" cy="1428750"/>
          </a:xfrm>
          <a:custGeom>
            <a:avLst/>
            <a:gdLst/>
            <a:ahLst/>
            <a:cxnLst/>
            <a:rect l="l" t="t" r="r" b="b"/>
            <a:pathLst>
              <a:path w="3390900" h="1428750">
                <a:moveTo>
                  <a:pt x="76200" y="0"/>
                </a:moveTo>
                <a:lnTo>
                  <a:pt x="3314700" y="0"/>
                </a:lnTo>
                <a:cubicBezTo>
                  <a:pt x="3356784" y="0"/>
                  <a:pt x="3390900" y="34116"/>
                  <a:pt x="3390900" y="76200"/>
                </a:cubicBezTo>
                <a:lnTo>
                  <a:pt x="3390900" y="1352550"/>
                </a:lnTo>
                <a:cubicBezTo>
                  <a:pt x="3390900" y="1394634"/>
                  <a:pt x="3356784" y="1428750"/>
                  <a:pt x="3314700" y="1428750"/>
                </a:cubicBezTo>
                <a:lnTo>
                  <a:pt x="76200" y="1428750"/>
                </a:lnTo>
                <a:cubicBezTo>
                  <a:pt x="34116" y="1428750"/>
                  <a:pt x="0" y="1394634"/>
                  <a:pt x="0" y="1352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7F8FA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421505" y="4350068"/>
            <a:ext cx="831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⑤ 无告警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425315" y="4630102"/>
            <a:ext cx="14911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超温/异常无自动提醒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425315" y="485870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问题发现严重滞后</a:t>
            </a:r>
          </a:p>
        </p:txBody>
      </p:sp>
      <p:sp>
        <p:nvSpPr>
          <p:cNvPr id="35" name="Freeform 35"/>
          <p:cNvSpPr/>
          <p:nvPr/>
        </p:nvSpPr>
        <p:spPr>
          <a:xfrm>
            <a:off x="7791450" y="4171950"/>
            <a:ext cx="3390900" cy="1428750"/>
          </a:xfrm>
          <a:custGeom>
            <a:avLst/>
            <a:gdLst/>
            <a:ahLst/>
            <a:cxnLst/>
            <a:rect l="l" t="t" r="r" b="b"/>
            <a:pathLst>
              <a:path w="3390900" h="1428750">
                <a:moveTo>
                  <a:pt x="76200" y="0"/>
                </a:moveTo>
                <a:lnTo>
                  <a:pt x="3314700" y="0"/>
                </a:lnTo>
                <a:cubicBezTo>
                  <a:pt x="3356784" y="0"/>
                  <a:pt x="3390900" y="34116"/>
                  <a:pt x="3390900" y="76200"/>
                </a:cubicBezTo>
                <a:lnTo>
                  <a:pt x="3390900" y="1352550"/>
                </a:lnTo>
                <a:cubicBezTo>
                  <a:pt x="3390900" y="1394634"/>
                  <a:pt x="3356784" y="1428750"/>
                  <a:pt x="3314700" y="1428750"/>
                </a:cubicBezTo>
                <a:lnTo>
                  <a:pt x="76200" y="1428750"/>
                </a:lnTo>
                <a:cubicBezTo>
                  <a:pt x="34116" y="1428750"/>
                  <a:pt x="0" y="1394634"/>
                  <a:pt x="0" y="1352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78D7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833366" y="448913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我们的答案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420100" y="4823460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轻量化物联网水温检测系统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00418" y="5087302"/>
            <a:ext cx="23729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FE4FA"/>
                </a:solidFill>
                <a:latin typeface="Microsoft YaHei"/>
                <a:ea typeface="Microsoft YaHei"/>
                <a:cs typeface="Microsoft YaHei"/>
              </a:rPr>
              <a:t>实时监测 · 远程告警 · 数据可视化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530447" y="5334952"/>
            <a:ext cx="19129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FE4FA"/>
                </a:solidFill>
                <a:latin typeface="Microsoft YaHei"/>
                <a:ea typeface="Microsoft YaHei"/>
                <a:cs typeface="Microsoft YaHei"/>
              </a:rPr>
              <a:t>低成本 · 多点部署 · 可复制</a:t>
            </a:r>
          </a:p>
        </p:txBody>
      </p:sp>
      <p:sp>
        <p:nvSpPr>
          <p:cNvPr id="40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096625" y="6524625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fld id="{8B3F1C2A-4D6E-4A11-9C3B-0F1E2D3C4B5A}" type="slidenum">
              <a:rPr lang="zh-CN" sz="1050" dirty="0">
                <a:solidFill>
                  <a:srgbClr val="666666"/>
                </a:solidFill>
                <a:latin typeface="Microsoft YaHei"/>
                <a:ea typeface="微软雅黑"/>
              </a:rPr>
              <a:t>1</a:t>
            </a:fld>
            <a:endParaRPr lang="zh-CN" sz="10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2460" y="39433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方案核心价值</a:t>
            </a:r>
          </a:p>
        </p:txBody>
      </p:sp>
      <p:sp>
        <p:nvSpPr>
          <p:cNvPr id="3" name="Rectangle 3"/>
          <p:cNvSpPr/>
          <p:nvPr/>
        </p:nvSpPr>
        <p:spPr>
          <a:xfrm>
            <a:off x="666750" y="857250"/>
            <a:ext cx="1143000" cy="57150"/>
          </a:xfrm>
          <a:prstGeom prst="rect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2462" y="1021556"/>
            <a:ext cx="31503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以实时监测替代人工，以数据驱动安全管理</a:t>
            </a:r>
          </a:p>
        </p:txBody>
      </p:sp>
      <p:sp>
        <p:nvSpPr>
          <p:cNvPr id="5" name="Freeform 5"/>
          <p:cNvSpPr/>
          <p:nvPr/>
        </p:nvSpPr>
        <p:spPr>
          <a:xfrm>
            <a:off x="666750" y="1428750"/>
            <a:ext cx="2571750" cy="1714500"/>
          </a:xfrm>
          <a:custGeom>
            <a:avLst/>
            <a:gdLst/>
            <a:ahLst/>
            <a:cxnLst/>
            <a:rect l="l" t="t" r="r" b="b"/>
            <a:pathLst>
              <a:path w="2571750" h="171450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42645"/>
                  <a:pt x="2571750" y="95250"/>
                </a:cubicBezTo>
                <a:lnTo>
                  <a:pt x="2571750" y="1619250"/>
                </a:lnTo>
                <a:cubicBezTo>
                  <a:pt x="2571750" y="1671855"/>
                  <a:pt x="2529105" y="1714500"/>
                  <a:pt x="247650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666750" y="1428750"/>
            <a:ext cx="2571750" cy="95250"/>
          </a:xfrm>
          <a:custGeom>
            <a:avLst/>
            <a:gdLst/>
            <a:ahLst/>
            <a:cxnLst/>
            <a:rect l="l" t="t" r="r" b="b"/>
            <a:pathLst>
              <a:path w="2571750" h="9525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21322"/>
                  <a:pt x="2571750" y="47625"/>
                </a:cubicBezTo>
                <a:lnTo>
                  <a:pt x="2571750" y="47625"/>
                </a:lnTo>
                <a:cubicBezTo>
                  <a:pt x="2571750" y="73928"/>
                  <a:pt x="2529105" y="95250"/>
                  <a:pt x="2476500" y="95250"/>
                </a:cubicBezTo>
                <a:lnTo>
                  <a:pt x="95250" y="95250"/>
                </a:lnTo>
                <a:cubicBezTo>
                  <a:pt x="42645" y="95250"/>
                  <a:pt x="0" y="73928"/>
                  <a:pt x="0" y="47625"/>
                </a:cubicBezTo>
                <a:lnTo>
                  <a:pt x="0" y="47625"/>
                </a:lnTo>
                <a:cubicBezTo>
                  <a:pt x="0" y="21322"/>
                  <a:pt x="42645" y="0"/>
                  <a:pt x="95250" y="0"/>
                </a:cubicBezTo>
                <a:close/>
              </a:path>
            </a:pathLst>
          </a:custGeom>
          <a:solidFill>
            <a:srgbClr val="0078D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408462" y="1543050"/>
            <a:ext cx="108832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0078D7"/>
                </a:solidFill>
                <a:latin typeface="Arial"/>
                <a:ea typeface="Microsoft YaHei"/>
                <a:cs typeface="Arial"/>
              </a:rPr>
              <a:t>24/7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43489" y="197167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自动实时监测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9175" y="230600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传感器无人值守连续采样，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7542" y="2515552"/>
            <a:ext cx="13301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7x24 小时实时更新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88768" y="2809399"/>
            <a:ext cx="13277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7CA6"/>
                </a:solidFill>
                <a:latin typeface="Microsoft YaHei"/>
                <a:ea typeface="Microsoft YaHei"/>
                <a:cs typeface="Microsoft YaHei"/>
              </a:rPr>
              <a:t>替代人工 · 杜绝滞后</a:t>
            </a:r>
          </a:p>
        </p:txBody>
      </p:sp>
      <p:sp>
        <p:nvSpPr>
          <p:cNvPr id="12" name="Freeform 12"/>
          <p:cNvSpPr/>
          <p:nvPr/>
        </p:nvSpPr>
        <p:spPr>
          <a:xfrm>
            <a:off x="3390900" y="1428750"/>
            <a:ext cx="2571750" cy="1714500"/>
          </a:xfrm>
          <a:custGeom>
            <a:avLst/>
            <a:gdLst/>
            <a:ahLst/>
            <a:cxnLst/>
            <a:rect l="l" t="t" r="r" b="b"/>
            <a:pathLst>
              <a:path w="2571750" h="171450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42645"/>
                  <a:pt x="2571750" y="95250"/>
                </a:cubicBezTo>
                <a:lnTo>
                  <a:pt x="2571750" y="1619250"/>
                </a:lnTo>
                <a:cubicBezTo>
                  <a:pt x="2571750" y="1671855"/>
                  <a:pt x="2529105" y="1714500"/>
                  <a:pt x="247650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3390900" y="1428750"/>
            <a:ext cx="2571750" cy="95250"/>
          </a:xfrm>
          <a:custGeom>
            <a:avLst/>
            <a:gdLst/>
            <a:ahLst/>
            <a:cxnLst/>
            <a:rect l="l" t="t" r="r" b="b"/>
            <a:pathLst>
              <a:path w="2571750" h="9525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21322"/>
                  <a:pt x="2571750" y="47625"/>
                </a:cubicBezTo>
                <a:lnTo>
                  <a:pt x="2571750" y="47625"/>
                </a:lnTo>
                <a:cubicBezTo>
                  <a:pt x="2571750" y="73928"/>
                  <a:pt x="2529105" y="95250"/>
                  <a:pt x="2476500" y="95250"/>
                </a:cubicBezTo>
                <a:lnTo>
                  <a:pt x="95250" y="95250"/>
                </a:lnTo>
                <a:cubicBezTo>
                  <a:pt x="42645" y="95250"/>
                  <a:pt x="0" y="73928"/>
                  <a:pt x="0" y="47625"/>
                </a:cubicBezTo>
                <a:lnTo>
                  <a:pt x="0" y="47625"/>
                </a:lnTo>
                <a:cubicBezTo>
                  <a:pt x="0" y="21322"/>
                  <a:pt x="42645" y="0"/>
                  <a:pt x="95250" y="0"/>
                </a:cubicBezTo>
                <a:close/>
              </a:path>
            </a:pathLst>
          </a:custGeom>
          <a:solidFill>
            <a:srgbClr val="4CA1E7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178618" y="1543050"/>
            <a:ext cx="99631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4CA1E7"/>
                </a:solidFill>
                <a:latin typeface="Arial"/>
                <a:ea typeface="Microsoft YaHei"/>
                <a:cs typeface="Arial"/>
              </a:rPr>
              <a:t>秒级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97668" y="19716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自动告警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70162" y="2306002"/>
            <a:ext cx="18132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超温/低温/离线/供电异常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07858" y="2515552"/>
            <a:ext cx="13378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微信/短信即时推送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52399" y="280939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7CA6"/>
                </a:solidFill>
                <a:latin typeface="Microsoft YaHei"/>
                <a:ea typeface="Microsoft YaHei"/>
                <a:cs typeface="Microsoft YaHei"/>
              </a:rPr>
              <a:t>安全隐患第一时间发现</a:t>
            </a:r>
          </a:p>
        </p:txBody>
      </p:sp>
      <p:sp>
        <p:nvSpPr>
          <p:cNvPr id="19" name="Freeform 19"/>
          <p:cNvSpPr/>
          <p:nvPr/>
        </p:nvSpPr>
        <p:spPr>
          <a:xfrm>
            <a:off x="6115050" y="1428750"/>
            <a:ext cx="2571750" cy="1714500"/>
          </a:xfrm>
          <a:custGeom>
            <a:avLst/>
            <a:gdLst/>
            <a:ahLst/>
            <a:cxnLst/>
            <a:rect l="l" t="t" r="r" b="b"/>
            <a:pathLst>
              <a:path w="2571750" h="171450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42645"/>
                  <a:pt x="2571750" y="95250"/>
                </a:cubicBezTo>
                <a:lnTo>
                  <a:pt x="2571750" y="1619250"/>
                </a:lnTo>
                <a:cubicBezTo>
                  <a:pt x="2571750" y="1671855"/>
                  <a:pt x="2529105" y="1714500"/>
                  <a:pt x="247650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6115050" y="1428750"/>
            <a:ext cx="2571750" cy="95250"/>
          </a:xfrm>
          <a:custGeom>
            <a:avLst/>
            <a:gdLst/>
            <a:ahLst/>
            <a:cxnLst/>
            <a:rect l="l" t="t" r="r" b="b"/>
            <a:pathLst>
              <a:path w="2571750" h="9525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21322"/>
                  <a:pt x="2571750" y="47625"/>
                </a:cubicBezTo>
                <a:lnTo>
                  <a:pt x="2571750" y="47625"/>
                </a:lnTo>
                <a:cubicBezTo>
                  <a:pt x="2571750" y="73928"/>
                  <a:pt x="2529105" y="95250"/>
                  <a:pt x="2476500" y="95250"/>
                </a:cubicBezTo>
                <a:lnTo>
                  <a:pt x="95250" y="95250"/>
                </a:lnTo>
                <a:cubicBezTo>
                  <a:pt x="42645" y="95250"/>
                  <a:pt x="0" y="73928"/>
                  <a:pt x="0" y="47625"/>
                </a:cubicBezTo>
                <a:lnTo>
                  <a:pt x="0" y="47625"/>
                </a:lnTo>
                <a:cubicBezTo>
                  <a:pt x="0" y="21322"/>
                  <a:pt x="42645" y="0"/>
                  <a:pt x="95250" y="0"/>
                </a:cubicBezTo>
                <a:close/>
              </a:path>
            </a:pathLst>
          </a:custGeom>
          <a:solidFill>
            <a:srgbClr val="0078D7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902768" y="1543050"/>
            <a:ext cx="99631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0078D7"/>
                </a:solidFill>
                <a:latin typeface="Arial"/>
                <a:ea typeface="Microsoft YaHei"/>
                <a:cs typeface="Arial"/>
              </a:rPr>
              <a:t>全程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76774" y="1971675"/>
            <a:ext cx="16483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数据可视化追溯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20828" y="23060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历史曲线、日周月报表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774180" y="251555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数据可留存可复盘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747748" y="280939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7CA6"/>
                </a:solidFill>
                <a:latin typeface="Microsoft YaHei"/>
                <a:ea typeface="Microsoft YaHei"/>
                <a:cs typeface="Microsoft YaHei"/>
              </a:rPr>
              <a:t>支撑运营与安全台账</a:t>
            </a:r>
          </a:p>
        </p:txBody>
      </p:sp>
      <p:sp>
        <p:nvSpPr>
          <p:cNvPr id="26" name="Freeform 26"/>
          <p:cNvSpPr/>
          <p:nvPr/>
        </p:nvSpPr>
        <p:spPr>
          <a:xfrm>
            <a:off x="8839200" y="1428750"/>
            <a:ext cx="2571750" cy="1714500"/>
          </a:xfrm>
          <a:custGeom>
            <a:avLst/>
            <a:gdLst/>
            <a:ahLst/>
            <a:cxnLst/>
            <a:rect l="l" t="t" r="r" b="b"/>
            <a:pathLst>
              <a:path w="2571750" h="171450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42645"/>
                  <a:pt x="2571750" y="95250"/>
                </a:cubicBezTo>
                <a:lnTo>
                  <a:pt x="2571750" y="1619250"/>
                </a:lnTo>
                <a:cubicBezTo>
                  <a:pt x="2571750" y="1671855"/>
                  <a:pt x="2529105" y="1714500"/>
                  <a:pt x="247650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8839200" y="1428750"/>
            <a:ext cx="2571750" cy="95250"/>
          </a:xfrm>
          <a:custGeom>
            <a:avLst/>
            <a:gdLst/>
            <a:ahLst/>
            <a:cxnLst/>
            <a:rect l="l" t="t" r="r" b="b"/>
            <a:pathLst>
              <a:path w="2571750" h="9525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21322"/>
                  <a:pt x="2571750" y="47625"/>
                </a:cubicBezTo>
                <a:lnTo>
                  <a:pt x="2571750" y="47625"/>
                </a:lnTo>
                <a:cubicBezTo>
                  <a:pt x="2571750" y="73928"/>
                  <a:pt x="2529105" y="95250"/>
                  <a:pt x="2476500" y="95250"/>
                </a:cubicBezTo>
                <a:lnTo>
                  <a:pt x="95250" y="95250"/>
                </a:lnTo>
                <a:cubicBezTo>
                  <a:pt x="42645" y="95250"/>
                  <a:pt x="0" y="73928"/>
                  <a:pt x="0" y="47625"/>
                </a:cubicBezTo>
                <a:lnTo>
                  <a:pt x="0" y="47625"/>
                </a:lnTo>
                <a:cubicBezTo>
                  <a:pt x="0" y="21322"/>
                  <a:pt x="42645" y="0"/>
                  <a:pt x="95250" y="0"/>
                </a:cubicBezTo>
                <a:close/>
              </a:path>
            </a:pathLst>
          </a:custGeom>
          <a:solidFill>
            <a:srgbClr val="4CA1E7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626918" y="1543050"/>
            <a:ext cx="99631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4CA1E7"/>
                </a:solidFill>
                <a:latin typeface="Arial"/>
                <a:ea typeface="Microsoft YaHei"/>
                <a:cs typeface="Arial"/>
              </a:rPr>
              <a:t>多端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530953" y="1971675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多终端查看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272135" y="2306002"/>
            <a:ext cx="1705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微信小程序 / APP / 大屏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98330" y="251555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随时随地移动办公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614297" y="28093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7CA6"/>
                </a:solidFill>
                <a:latin typeface="Microsoft YaHei"/>
                <a:ea typeface="Microsoft YaHei"/>
                <a:cs typeface="Microsoft YaHei"/>
              </a:rPr>
              <a:t>多基地统一管理</a:t>
            </a:r>
          </a:p>
        </p:txBody>
      </p:sp>
      <p:sp>
        <p:nvSpPr>
          <p:cNvPr id="33" name="Freeform 33"/>
          <p:cNvSpPr/>
          <p:nvPr/>
        </p:nvSpPr>
        <p:spPr>
          <a:xfrm>
            <a:off x="666750" y="3429000"/>
            <a:ext cx="10744200" cy="857250"/>
          </a:xfrm>
          <a:custGeom>
            <a:avLst/>
            <a:gdLst/>
            <a:ahLst/>
            <a:cxnLst/>
            <a:rect l="l" t="t" r="r" b="b"/>
            <a:pathLst>
              <a:path w="10744200" h="857250">
                <a:moveTo>
                  <a:pt x="95250" y="0"/>
                </a:moveTo>
                <a:lnTo>
                  <a:pt x="10648950" y="0"/>
                </a:lnTo>
                <a:cubicBezTo>
                  <a:pt x="10701555" y="0"/>
                  <a:pt x="10744200" y="42645"/>
                  <a:pt x="10744200" y="95250"/>
                </a:cubicBezTo>
                <a:lnTo>
                  <a:pt x="10744200" y="762000"/>
                </a:lnTo>
                <a:cubicBezTo>
                  <a:pt x="10744200" y="814605"/>
                  <a:pt x="10701555" y="857250"/>
                  <a:pt x="10648950" y="857250"/>
                </a:cubicBezTo>
                <a:lnTo>
                  <a:pt x="95250" y="857250"/>
                </a:lnTo>
                <a:cubicBezTo>
                  <a:pt x="42645" y="857250"/>
                  <a:pt x="0" y="814605"/>
                  <a:pt x="0" y="76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02E5D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860275" y="3650932"/>
            <a:ext cx="235714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四大价值 · 一套系统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543538" y="3993356"/>
            <a:ext cx="4990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A0C4E3"/>
                </a:solidFill>
                <a:latin typeface="Microsoft YaHei"/>
                <a:ea typeface="Microsoft YaHei"/>
                <a:cs typeface="Microsoft YaHei"/>
              </a:rPr>
              <a:t>从“人盯温度”到“数据驱动”，全面提升冬泳基地安全管理与运营效率</a:t>
            </a:r>
          </a:p>
        </p:txBody>
      </p:sp>
      <p:sp>
        <p:nvSpPr>
          <p:cNvPr id="36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096625" y="6524625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fld id="{8B3F1C2A-4D6E-4A11-9C3B-0F1E2D3C4B5A}" type="slidenum">
              <a:rPr lang="zh-CN" sz="1050" dirty="0">
                <a:solidFill>
                  <a:srgbClr val="666666"/>
                </a:solidFill>
                <a:latin typeface="Microsoft YaHei"/>
                <a:ea typeface="微软雅黑"/>
              </a:rPr>
              <a:t>1</a:t>
            </a:fld>
            <a:endParaRPr lang="zh-CN" sz="10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2460" y="394335"/>
            <a:ext cx="29669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市场可行性分析</a:t>
            </a:r>
          </a:p>
        </p:txBody>
      </p:sp>
      <p:sp>
        <p:nvSpPr>
          <p:cNvPr id="3" name="Rectangle 3"/>
          <p:cNvSpPr/>
          <p:nvPr/>
        </p:nvSpPr>
        <p:spPr>
          <a:xfrm>
            <a:off x="666750" y="857250"/>
            <a:ext cx="1143000" cy="57150"/>
          </a:xfrm>
          <a:prstGeom prst="rect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2462" y="1021556"/>
            <a:ext cx="44648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从市场覆盖、标准化需求、标杆验证与市场空白四个维度论证</a:t>
            </a:r>
          </a:p>
        </p:txBody>
      </p:sp>
      <p:sp>
        <p:nvSpPr>
          <p:cNvPr id="5" name="Freeform 5"/>
          <p:cNvSpPr/>
          <p:nvPr/>
        </p:nvSpPr>
        <p:spPr>
          <a:xfrm>
            <a:off x="666750" y="1428750"/>
            <a:ext cx="2571750" cy="1333500"/>
          </a:xfrm>
          <a:custGeom>
            <a:avLst/>
            <a:gdLst/>
            <a:ahLst/>
            <a:cxnLst/>
            <a:rect l="l" t="t" r="r" b="b"/>
            <a:pathLst>
              <a:path w="2571750" h="133350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42645"/>
                  <a:pt x="2571750" y="95250"/>
                </a:cubicBezTo>
                <a:lnTo>
                  <a:pt x="2571750" y="1238250"/>
                </a:lnTo>
                <a:cubicBezTo>
                  <a:pt x="2571750" y="1290855"/>
                  <a:pt x="2529105" y="1333500"/>
                  <a:pt x="2476500" y="1333500"/>
                </a:cubicBezTo>
                <a:lnTo>
                  <a:pt x="95250" y="1333500"/>
                </a:lnTo>
                <a:cubicBezTo>
                  <a:pt x="42645" y="1333500"/>
                  <a:pt x="0" y="1290855"/>
                  <a:pt x="0" y="1238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404652" y="1548765"/>
            <a:ext cx="1095946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0078D7"/>
                </a:solidFill>
                <a:latin typeface="Arial"/>
                <a:ea typeface="Microsoft YaHei"/>
                <a:cs typeface="Arial"/>
              </a:rPr>
              <a:t>庞大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4402" y="20450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冬泳人群基数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8249" y="233314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7CA6"/>
                </a:solidFill>
                <a:latin typeface="Microsoft YaHei"/>
                <a:ea typeface="Microsoft YaHei"/>
                <a:cs typeface="Microsoft YaHei"/>
              </a:rPr>
              <a:t>全国冬泳爱好者庞大，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28249" y="250459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7CA6"/>
                </a:solidFill>
                <a:latin typeface="Microsoft YaHei"/>
                <a:ea typeface="Microsoft YaHei"/>
                <a:cs typeface="Microsoft YaHei"/>
              </a:rPr>
              <a:t>基地分布广泛需求真实</a:t>
            </a:r>
          </a:p>
        </p:txBody>
      </p:sp>
      <p:sp>
        <p:nvSpPr>
          <p:cNvPr id="10" name="Freeform 10"/>
          <p:cNvSpPr/>
          <p:nvPr/>
        </p:nvSpPr>
        <p:spPr>
          <a:xfrm>
            <a:off x="3390900" y="1428750"/>
            <a:ext cx="2571750" cy="1333500"/>
          </a:xfrm>
          <a:custGeom>
            <a:avLst/>
            <a:gdLst/>
            <a:ahLst/>
            <a:cxnLst/>
            <a:rect l="l" t="t" r="r" b="b"/>
            <a:pathLst>
              <a:path w="2571750" h="133350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42645"/>
                  <a:pt x="2571750" y="95250"/>
                </a:cubicBezTo>
                <a:lnTo>
                  <a:pt x="2571750" y="1238250"/>
                </a:lnTo>
                <a:cubicBezTo>
                  <a:pt x="2571750" y="1290855"/>
                  <a:pt x="2529105" y="1333500"/>
                  <a:pt x="2476500" y="1333500"/>
                </a:cubicBezTo>
                <a:lnTo>
                  <a:pt x="95250" y="1333500"/>
                </a:lnTo>
                <a:cubicBezTo>
                  <a:pt x="42645" y="1333500"/>
                  <a:pt x="0" y="1290855"/>
                  <a:pt x="0" y="1238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128802" y="1548765"/>
            <a:ext cx="1095946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4CA1E7"/>
                </a:solidFill>
                <a:latin typeface="Arial"/>
                <a:ea typeface="Microsoft YaHei"/>
                <a:cs typeface="Arial"/>
              </a:rPr>
              <a:t>标准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38552" y="20450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可标准化复制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38801" y="2333149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7CA6"/>
                </a:solidFill>
                <a:latin typeface="Microsoft YaHei"/>
                <a:ea typeface="Microsoft YaHei"/>
                <a:cs typeface="Microsoft YaHei"/>
              </a:rPr>
              <a:t>测量需求统一，方案模板化，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881199" y="250459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7CA6"/>
                </a:solidFill>
                <a:latin typeface="Microsoft YaHei"/>
                <a:ea typeface="Microsoft YaHei"/>
                <a:cs typeface="Microsoft YaHei"/>
              </a:rPr>
              <a:t>可从单点快速复制到多点</a:t>
            </a:r>
          </a:p>
        </p:txBody>
      </p:sp>
      <p:sp>
        <p:nvSpPr>
          <p:cNvPr id="15" name="Freeform 15"/>
          <p:cNvSpPr/>
          <p:nvPr/>
        </p:nvSpPr>
        <p:spPr>
          <a:xfrm>
            <a:off x="6115050" y="1428750"/>
            <a:ext cx="2571750" cy="1333500"/>
          </a:xfrm>
          <a:custGeom>
            <a:avLst/>
            <a:gdLst/>
            <a:ahLst/>
            <a:cxnLst/>
            <a:rect l="l" t="t" r="r" b="b"/>
            <a:pathLst>
              <a:path w="2571750" h="133350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42645"/>
                  <a:pt x="2571750" y="95250"/>
                </a:cubicBezTo>
                <a:lnTo>
                  <a:pt x="2571750" y="1238250"/>
                </a:lnTo>
                <a:cubicBezTo>
                  <a:pt x="2571750" y="1290855"/>
                  <a:pt x="2529105" y="1333500"/>
                  <a:pt x="2476500" y="1333500"/>
                </a:cubicBezTo>
                <a:lnTo>
                  <a:pt x="95250" y="1333500"/>
                </a:lnTo>
                <a:cubicBezTo>
                  <a:pt x="42645" y="1333500"/>
                  <a:pt x="0" y="1290855"/>
                  <a:pt x="0" y="1238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852952" y="1548765"/>
            <a:ext cx="1095946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0078D7"/>
                </a:solidFill>
                <a:latin typeface="Arial"/>
                <a:ea typeface="Microsoft YaHei"/>
                <a:cs typeface="Arial"/>
              </a:rPr>
              <a:t>验证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62702" y="20450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成熟标杆验证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62951" y="2333149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7CA6"/>
                </a:solidFill>
                <a:latin typeface="Microsoft YaHei"/>
                <a:ea typeface="Microsoft YaHei"/>
                <a:cs typeface="Microsoft YaHei"/>
              </a:rPr>
              <a:t>京东湖挑战赛、哈尔滨雪博等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05349" y="250459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7CA6"/>
                </a:solidFill>
                <a:latin typeface="Microsoft YaHei"/>
                <a:ea typeface="Microsoft YaHei"/>
                <a:cs typeface="Microsoft YaHei"/>
              </a:rPr>
              <a:t>印证监测需求与市场规模</a:t>
            </a:r>
          </a:p>
        </p:txBody>
      </p:sp>
      <p:sp>
        <p:nvSpPr>
          <p:cNvPr id="20" name="Freeform 20"/>
          <p:cNvSpPr/>
          <p:nvPr/>
        </p:nvSpPr>
        <p:spPr>
          <a:xfrm>
            <a:off x="8839200" y="1428750"/>
            <a:ext cx="2571750" cy="1333500"/>
          </a:xfrm>
          <a:custGeom>
            <a:avLst/>
            <a:gdLst/>
            <a:ahLst/>
            <a:cxnLst/>
            <a:rect l="l" t="t" r="r" b="b"/>
            <a:pathLst>
              <a:path w="2571750" h="133350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42645"/>
                  <a:pt x="2571750" y="95250"/>
                </a:cubicBezTo>
                <a:lnTo>
                  <a:pt x="2571750" y="1238250"/>
                </a:lnTo>
                <a:cubicBezTo>
                  <a:pt x="2571750" y="1290855"/>
                  <a:pt x="2529105" y="1333500"/>
                  <a:pt x="2476500" y="1333500"/>
                </a:cubicBezTo>
                <a:lnTo>
                  <a:pt x="95250" y="1333500"/>
                </a:lnTo>
                <a:cubicBezTo>
                  <a:pt x="42645" y="1333500"/>
                  <a:pt x="0" y="1290855"/>
                  <a:pt x="0" y="1238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577102" y="1548765"/>
            <a:ext cx="1095946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4CA1E7"/>
                </a:solidFill>
                <a:latin typeface="Arial"/>
                <a:ea typeface="Microsoft YaHei"/>
                <a:cs typeface="Arial"/>
              </a:rPr>
              <a:t>空白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86852" y="20450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市场存在空白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00699" y="233314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7CA6"/>
                </a:solidFill>
                <a:latin typeface="Microsoft YaHei"/>
                <a:ea typeface="Microsoft YaHei"/>
                <a:cs typeface="Microsoft YaHei"/>
              </a:rPr>
              <a:t>缺少轻量、场景专属的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00699" y="250459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7CA6"/>
                </a:solidFill>
                <a:latin typeface="Microsoft YaHei"/>
                <a:ea typeface="Microsoft YaHei"/>
                <a:cs typeface="Microsoft YaHei"/>
              </a:rPr>
              <a:t>冬泳水温监测解决方案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7700" y="307657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标杆案例验证</a:t>
            </a:r>
          </a:p>
        </p:txBody>
      </p:sp>
      <p:sp>
        <p:nvSpPr>
          <p:cNvPr id="26" name="Freeform 26"/>
          <p:cNvSpPr/>
          <p:nvPr/>
        </p:nvSpPr>
        <p:spPr>
          <a:xfrm>
            <a:off x="666750" y="3429000"/>
            <a:ext cx="5219700" cy="1428750"/>
          </a:xfrm>
          <a:custGeom>
            <a:avLst/>
            <a:gdLst/>
            <a:ahLst/>
            <a:cxnLst/>
            <a:rect l="l" t="t" r="r" b="b"/>
            <a:pathLst>
              <a:path w="5219700" h="1428750">
                <a:moveTo>
                  <a:pt x="95250" y="0"/>
                </a:moveTo>
                <a:lnTo>
                  <a:pt x="5124450" y="0"/>
                </a:lnTo>
                <a:cubicBezTo>
                  <a:pt x="5177055" y="0"/>
                  <a:pt x="5219700" y="42645"/>
                  <a:pt x="5219700" y="95250"/>
                </a:cubicBezTo>
                <a:lnTo>
                  <a:pt x="5219700" y="1333500"/>
                </a:lnTo>
                <a:cubicBezTo>
                  <a:pt x="5219700" y="1386105"/>
                  <a:pt x="5177055" y="1428750"/>
                  <a:pt x="512445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7F8FA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666750" y="3429000"/>
            <a:ext cx="76200" cy="1428750"/>
          </a:xfrm>
          <a:prstGeom prst="rect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97255" y="3588068"/>
            <a:ext cx="23736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牡丹江 镜泊湖冬泳挑战赛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01065" y="3887152"/>
            <a:ext cx="38451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气温 -20℃，水温约 8℃，参赛需实时掌握水温以保障安全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01065" y="415385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专业赛事级监测需求强烈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01065" y="4439602"/>
            <a:ext cx="32470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7CA6"/>
                </a:solidFill>
                <a:latin typeface="Microsoft YaHei"/>
                <a:ea typeface="Microsoft YaHei"/>
                <a:cs typeface="Microsoft YaHei"/>
              </a:rPr>
              <a:t>需求点：赛事方需标准化、可信的实时水温数据</a:t>
            </a:r>
          </a:p>
        </p:txBody>
      </p:sp>
      <p:sp>
        <p:nvSpPr>
          <p:cNvPr id="32" name="Freeform 32"/>
          <p:cNvSpPr/>
          <p:nvPr/>
        </p:nvSpPr>
        <p:spPr>
          <a:xfrm>
            <a:off x="6057900" y="3429000"/>
            <a:ext cx="5353050" cy="1428750"/>
          </a:xfrm>
          <a:custGeom>
            <a:avLst/>
            <a:gdLst/>
            <a:ahLst/>
            <a:cxnLst/>
            <a:rect l="l" t="t" r="r" b="b"/>
            <a:pathLst>
              <a:path w="5353050" h="1428750">
                <a:moveTo>
                  <a:pt x="95250" y="0"/>
                </a:moveTo>
                <a:lnTo>
                  <a:pt x="5257800" y="0"/>
                </a:lnTo>
                <a:cubicBezTo>
                  <a:pt x="5310405" y="0"/>
                  <a:pt x="5353050" y="42645"/>
                  <a:pt x="5353050" y="95250"/>
                </a:cubicBezTo>
                <a:lnTo>
                  <a:pt x="5353050" y="1333500"/>
                </a:lnTo>
                <a:cubicBezTo>
                  <a:pt x="5353050" y="1386105"/>
                  <a:pt x="5310405" y="1428750"/>
                  <a:pt x="52578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7F8FA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6057900" y="3429000"/>
            <a:ext cx="76200" cy="1428750"/>
          </a:xfrm>
          <a:prstGeom prst="rect">
            <a:avLst/>
          </a:prstGeom>
          <a:solidFill>
            <a:srgbClr val="4CA1E7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288405" y="3588068"/>
            <a:ext cx="18975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4CA1E7"/>
                </a:solidFill>
                <a:latin typeface="Microsoft YaHei"/>
                <a:ea typeface="Microsoft YaHei"/>
                <a:cs typeface="Microsoft YaHei"/>
              </a:rPr>
              <a:t>哈尔滨太阳岛雪博会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292215" y="3887152"/>
            <a:ext cx="41978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户外泳池通过持续曝气/控温保持水温约 0℃，需 24h 在线监测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292215" y="415385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极寒环境下的运维监测常态化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292215" y="4439602"/>
            <a:ext cx="32930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7CA6"/>
                </a:solidFill>
                <a:latin typeface="Microsoft YaHei"/>
                <a:ea typeface="Microsoft YaHei"/>
                <a:cs typeface="Microsoft YaHei"/>
              </a:rPr>
              <a:t>需求点：极低温 + 户外 + 持续监测场景验证可行</a:t>
            </a:r>
          </a:p>
        </p:txBody>
      </p:sp>
      <p:sp>
        <p:nvSpPr>
          <p:cNvPr id="38" name="Freeform 38"/>
          <p:cNvSpPr/>
          <p:nvPr/>
        </p:nvSpPr>
        <p:spPr>
          <a:xfrm>
            <a:off x="666750" y="5048250"/>
            <a:ext cx="10744200" cy="857250"/>
          </a:xfrm>
          <a:custGeom>
            <a:avLst/>
            <a:gdLst/>
            <a:ahLst/>
            <a:cxnLst/>
            <a:rect l="l" t="t" r="r" b="b"/>
            <a:pathLst>
              <a:path w="10744200" h="857250">
                <a:moveTo>
                  <a:pt x="95250" y="0"/>
                </a:moveTo>
                <a:lnTo>
                  <a:pt x="10648950" y="0"/>
                </a:lnTo>
                <a:cubicBezTo>
                  <a:pt x="10701555" y="0"/>
                  <a:pt x="10744200" y="42645"/>
                  <a:pt x="10744200" y="95250"/>
                </a:cubicBezTo>
                <a:lnTo>
                  <a:pt x="10744200" y="762000"/>
                </a:lnTo>
                <a:cubicBezTo>
                  <a:pt x="10744200" y="814605"/>
                  <a:pt x="10701555" y="857250"/>
                  <a:pt x="10648950" y="857250"/>
                </a:cubicBezTo>
                <a:lnTo>
                  <a:pt x="95250" y="857250"/>
                </a:lnTo>
                <a:cubicBezTo>
                  <a:pt x="42645" y="857250"/>
                  <a:pt x="0" y="814605"/>
                  <a:pt x="0" y="76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02E5D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409599" y="5267325"/>
            <a:ext cx="325850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结论：市场需求真实且未被满足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878580" y="5582602"/>
            <a:ext cx="43205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C4E3"/>
                </a:solidFill>
                <a:latin typeface="Microsoft YaHei"/>
                <a:ea typeface="Microsoft YaHei"/>
                <a:cs typeface="Microsoft YaHei"/>
              </a:rPr>
              <a:t>冬泳水温监测是刚需，现有解决方案缺失，存在明确的蓝海机会</a:t>
            </a:r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096625" y="6524625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fld id="{8B3F1C2A-4D6E-4A11-9C3B-0F1E2D3C4B5A}" type="slidenum">
              <a:rPr lang="zh-CN" sz="1050" dirty="0">
                <a:solidFill>
                  <a:srgbClr val="666666"/>
                </a:solidFill>
                <a:latin typeface="Microsoft YaHei"/>
                <a:ea typeface="微软雅黑"/>
              </a:rPr>
              <a:t>1</a:t>
            </a:fld>
            <a:endParaRPr lang="zh-CN" sz="10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2460" y="394335"/>
            <a:ext cx="29669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三维可行性评估</a:t>
            </a:r>
          </a:p>
        </p:txBody>
      </p:sp>
      <p:sp>
        <p:nvSpPr>
          <p:cNvPr id="3" name="Rectangle 3"/>
          <p:cNvSpPr/>
          <p:nvPr/>
        </p:nvSpPr>
        <p:spPr>
          <a:xfrm>
            <a:off x="666750" y="857250"/>
            <a:ext cx="1143000" cy="57150"/>
          </a:xfrm>
          <a:prstGeom prst="rect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2462" y="1021556"/>
            <a:ext cx="31503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技术、经济、团队三维度验证项目可落地性</a:t>
            </a:r>
          </a:p>
        </p:txBody>
      </p:sp>
      <p:sp>
        <p:nvSpPr>
          <p:cNvPr id="5" name="Freeform 5"/>
          <p:cNvSpPr/>
          <p:nvPr/>
        </p:nvSpPr>
        <p:spPr>
          <a:xfrm>
            <a:off x="666750" y="1381125"/>
            <a:ext cx="3390900" cy="1619250"/>
          </a:xfrm>
          <a:custGeom>
            <a:avLst/>
            <a:gdLst/>
            <a:ahLst/>
            <a:cxnLst/>
            <a:rect l="l" t="t" r="r" b="b"/>
            <a:pathLst>
              <a:path w="3390900" h="1619250">
                <a:moveTo>
                  <a:pt x="95250" y="0"/>
                </a:moveTo>
                <a:lnTo>
                  <a:pt x="3295650" y="0"/>
                </a:lnTo>
                <a:cubicBezTo>
                  <a:pt x="3348255" y="0"/>
                  <a:pt x="3390900" y="42645"/>
                  <a:pt x="3390900" y="95250"/>
                </a:cubicBezTo>
                <a:lnTo>
                  <a:pt x="3390900" y="1524000"/>
                </a:lnTo>
                <a:cubicBezTo>
                  <a:pt x="3390900" y="1576605"/>
                  <a:pt x="3348255" y="1619250"/>
                  <a:pt x="3295650" y="1619250"/>
                </a:cubicBezTo>
                <a:lnTo>
                  <a:pt x="95250" y="1619250"/>
                </a:lnTo>
                <a:cubicBezTo>
                  <a:pt x="42645" y="1619250"/>
                  <a:pt x="0" y="1576605"/>
                  <a:pt x="0" y="1524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57250" y="1533525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技术可行性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2965" y="1867852"/>
            <a:ext cx="23729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DS18B20 5米防水探头，水下采样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2965" y="2115502"/>
            <a:ext cx="25799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Air780E（4G Cat.1 一体）通信成熟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2965" y="2363152"/>
            <a:ext cx="21429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18650 锂电 + 低功耗供电可行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2965" y="2610802"/>
            <a:ext cx="23422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云端 IoT + Go 服务开发难度适中</a:t>
            </a:r>
          </a:p>
        </p:txBody>
      </p:sp>
      <p:sp>
        <p:nvSpPr>
          <p:cNvPr id="11" name="Freeform 11"/>
          <p:cNvSpPr/>
          <p:nvPr/>
        </p:nvSpPr>
        <p:spPr>
          <a:xfrm>
            <a:off x="4229100" y="1381125"/>
            <a:ext cx="3390900" cy="1619250"/>
          </a:xfrm>
          <a:custGeom>
            <a:avLst/>
            <a:gdLst/>
            <a:ahLst/>
            <a:cxnLst/>
            <a:rect l="l" t="t" r="r" b="b"/>
            <a:pathLst>
              <a:path w="3390900" h="1619250">
                <a:moveTo>
                  <a:pt x="95250" y="0"/>
                </a:moveTo>
                <a:lnTo>
                  <a:pt x="3295650" y="0"/>
                </a:lnTo>
                <a:cubicBezTo>
                  <a:pt x="3348255" y="0"/>
                  <a:pt x="3390900" y="42645"/>
                  <a:pt x="3390900" y="95250"/>
                </a:cubicBezTo>
                <a:lnTo>
                  <a:pt x="3390900" y="1524000"/>
                </a:lnTo>
                <a:cubicBezTo>
                  <a:pt x="3390900" y="1576605"/>
                  <a:pt x="3348255" y="1619250"/>
                  <a:pt x="3295650" y="1619250"/>
                </a:cubicBezTo>
                <a:lnTo>
                  <a:pt x="95250" y="1619250"/>
                </a:lnTo>
                <a:cubicBezTo>
                  <a:pt x="42645" y="1619250"/>
                  <a:pt x="0" y="1576605"/>
                  <a:pt x="0" y="1524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419600" y="1533525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CA1E7"/>
                </a:solidFill>
                <a:latin typeface="Microsoft YaHei"/>
                <a:ea typeface="Microsoft YaHei"/>
                <a:cs typeface="Microsoft YaHei"/>
              </a:rPr>
              <a:t>经济可行性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425315" y="1867852"/>
            <a:ext cx="17748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硬件成本：约 ¥100 以内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425315" y="2115502"/>
            <a:ext cx="19359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毛利率高：标准版 75~86%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25315" y="2363152"/>
            <a:ext cx="19435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硬件 + SaaS 年费双轮收入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25315" y="2610802"/>
            <a:ext cx="23422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物联网卡年费单列 (¥30~50/年)</a:t>
            </a:r>
          </a:p>
        </p:txBody>
      </p:sp>
      <p:sp>
        <p:nvSpPr>
          <p:cNvPr id="17" name="Freeform 17"/>
          <p:cNvSpPr/>
          <p:nvPr/>
        </p:nvSpPr>
        <p:spPr>
          <a:xfrm>
            <a:off x="7791450" y="1381125"/>
            <a:ext cx="3390900" cy="1619250"/>
          </a:xfrm>
          <a:custGeom>
            <a:avLst/>
            <a:gdLst/>
            <a:ahLst/>
            <a:cxnLst/>
            <a:rect l="l" t="t" r="r" b="b"/>
            <a:pathLst>
              <a:path w="3390900" h="1619250">
                <a:moveTo>
                  <a:pt x="95250" y="0"/>
                </a:moveTo>
                <a:lnTo>
                  <a:pt x="3295650" y="0"/>
                </a:lnTo>
                <a:cubicBezTo>
                  <a:pt x="3348255" y="0"/>
                  <a:pt x="3390900" y="42645"/>
                  <a:pt x="3390900" y="95250"/>
                </a:cubicBezTo>
                <a:lnTo>
                  <a:pt x="3390900" y="1524000"/>
                </a:lnTo>
                <a:cubicBezTo>
                  <a:pt x="3390900" y="1576605"/>
                  <a:pt x="3348255" y="1619250"/>
                  <a:pt x="3295650" y="1619250"/>
                </a:cubicBezTo>
                <a:lnTo>
                  <a:pt x="95250" y="1619250"/>
                </a:lnTo>
                <a:cubicBezTo>
                  <a:pt x="42645" y="1619250"/>
                  <a:pt x="0" y="1576605"/>
                  <a:pt x="0" y="1524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981950" y="1533525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团队可行性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87665" y="186785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硬件 + 嵌入式开发能力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87665" y="211550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云平台 + 后端服务能力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87665" y="236315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销售 + 交付实施能力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87665" y="26108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运维 + 客服支持体系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700" y="3219450"/>
            <a:ext cx="16483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关键风险与应对</a:t>
            </a:r>
          </a:p>
        </p:txBody>
      </p:sp>
      <p:sp>
        <p:nvSpPr>
          <p:cNvPr id="24" name="Freeform 24"/>
          <p:cNvSpPr/>
          <p:nvPr/>
        </p:nvSpPr>
        <p:spPr>
          <a:xfrm>
            <a:off x="666750" y="3524250"/>
            <a:ext cx="10744200" cy="419100"/>
          </a:xfrm>
          <a:custGeom>
            <a:avLst/>
            <a:gdLst/>
            <a:ahLst/>
            <a:cxnLst/>
            <a:rect l="l" t="t" r="r" b="b"/>
            <a:pathLst>
              <a:path w="10744200" h="419100">
                <a:moveTo>
                  <a:pt x="76200" y="0"/>
                </a:moveTo>
                <a:lnTo>
                  <a:pt x="10668000" y="0"/>
                </a:lnTo>
                <a:cubicBezTo>
                  <a:pt x="10710084" y="0"/>
                  <a:pt x="10744200" y="34116"/>
                  <a:pt x="10744200" y="76200"/>
                </a:cubicBezTo>
                <a:lnTo>
                  <a:pt x="10744200" y="342900"/>
                </a:lnTo>
                <a:cubicBezTo>
                  <a:pt x="10744200" y="384984"/>
                  <a:pt x="10710084" y="419100"/>
                  <a:pt x="106680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2E5D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61060" y="366141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985260" y="366141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影响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52260" y="36614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应对策略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66750" y="4019550"/>
            <a:ext cx="10744200" cy="59055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62012" y="424100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极端严寒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987165" y="4211002"/>
            <a:ext cx="14835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-30℃ 户外设备可靠性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54165" y="4211002"/>
            <a:ext cx="32470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工业级防水防冻、耐寒外壳、冗余供电保温设计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66750" y="4686300"/>
            <a:ext cx="10744200" cy="59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62012" y="4907756"/>
            <a:ext cx="5461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弱信号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987165" y="4877752"/>
            <a:ext cx="15141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偏远基地 4G 覆盖不足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54165" y="4877752"/>
            <a:ext cx="30400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本地缓存断点续传 + 多运营商 / NB-IoT 备选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66750" y="5353050"/>
            <a:ext cx="10744200" cy="59055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62012" y="557450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供电断电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987165" y="55445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户外取电不便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654165" y="5544502"/>
            <a:ext cx="28100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太阳能 + 大容量锂电池续航，低功耗设计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66750" y="6019800"/>
            <a:ext cx="10744200" cy="59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62012" y="62412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支付意愿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987165" y="621125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小基地预算有限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654165" y="6211252"/>
            <a:ext cx="29940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分级套餐 + SaaS 订阅 + 政府/协会补贴撬动</a:t>
            </a:r>
          </a:p>
        </p:txBody>
      </p:sp>
      <p:sp>
        <p:nvSpPr>
          <p:cNvPr id="4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096625" y="6524625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fld id="{8B3F1C2A-4D6E-4A11-9C3B-0F1E2D3C4B5A}" type="slidenum">
              <a:rPr lang="zh-CN" sz="1050" dirty="0">
                <a:solidFill>
                  <a:srgbClr val="666666"/>
                </a:solidFill>
                <a:latin typeface="Microsoft YaHei"/>
                <a:ea typeface="微软雅黑"/>
              </a:rPr>
              <a:t>1</a:t>
            </a:fld>
            <a:endParaRPr lang="zh-CN" sz="10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40342" y="1238250"/>
            <a:ext cx="2911316" cy="304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0" b="1" dirty="0">
                <a:solidFill>
                  <a:srgbClr val="FFFFFF">
                    <a:alpha val="12000"/>
                  </a:srgbClr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722626" y="3577590"/>
            <a:ext cx="6746748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技术方案与系统组成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82328" y="4524375"/>
            <a:ext cx="542734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A0C4E3"/>
                </a:solidFill>
                <a:latin typeface="Microsoft YaHei"/>
                <a:ea typeface="Microsoft YaHei"/>
                <a:cs typeface="Microsoft YaHei"/>
              </a:rPr>
              <a:t>感知 · 传输 · 云平台 · 应用终端 · 供电，六大模块协同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2460" y="39433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系统技术架构</a:t>
            </a:r>
          </a:p>
        </p:txBody>
      </p:sp>
      <p:sp>
        <p:nvSpPr>
          <p:cNvPr id="3" name="Rectangle 3"/>
          <p:cNvSpPr/>
          <p:nvPr/>
        </p:nvSpPr>
        <p:spPr>
          <a:xfrm>
            <a:off x="666750" y="857250"/>
            <a:ext cx="1143000" cy="57150"/>
          </a:xfrm>
          <a:prstGeom prst="rect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2462" y="1021556"/>
            <a:ext cx="46620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5米探头线水下感知 → 4G Cat.1 无线回传 → 云平台 → 微信小程序</a:t>
            </a:r>
          </a:p>
        </p:txBody>
      </p:sp>
      <p:sp>
        <p:nvSpPr>
          <p:cNvPr id="5" name="Freeform 5"/>
          <p:cNvSpPr/>
          <p:nvPr/>
        </p:nvSpPr>
        <p:spPr>
          <a:xfrm>
            <a:off x="1524000" y="133350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5250" y="0"/>
                </a:moveTo>
                <a:lnTo>
                  <a:pt x="9048750" y="0"/>
                </a:lnTo>
                <a:cubicBezTo>
                  <a:pt x="9101355" y="0"/>
                  <a:pt x="9144000" y="42645"/>
                  <a:pt x="9144000" y="95250"/>
                </a:cubicBezTo>
                <a:lnTo>
                  <a:pt x="9144000" y="1047750"/>
                </a:lnTo>
                <a:cubicBezTo>
                  <a:pt x="9144000" y="1100355"/>
                  <a:pt x="9101355" y="1143000"/>
                  <a:pt x="90487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1524000" y="1333500"/>
            <a:ext cx="1905000" cy="1143000"/>
          </a:xfrm>
          <a:custGeom>
            <a:avLst/>
            <a:gdLst/>
            <a:ahLst/>
            <a:cxnLst/>
            <a:rect l="l" t="t" r="r" b="b"/>
            <a:pathLst>
              <a:path w="1905000" h="1143000">
                <a:moveTo>
                  <a:pt x="95250" y="0"/>
                </a:moveTo>
                <a:lnTo>
                  <a:pt x="1809750" y="0"/>
                </a:lnTo>
                <a:cubicBezTo>
                  <a:pt x="1862355" y="0"/>
                  <a:pt x="1905000" y="42645"/>
                  <a:pt x="1905000" y="95250"/>
                </a:cubicBezTo>
                <a:lnTo>
                  <a:pt x="1905000" y="1047750"/>
                </a:lnTo>
                <a:cubicBezTo>
                  <a:pt x="1905000" y="1100355"/>
                  <a:pt x="1862355" y="1143000"/>
                  <a:pt x="18097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078D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075998" y="1584008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感知层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60615" y="1905952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FE4FA"/>
                </a:solidFill>
                <a:latin typeface="Microsoft YaHei"/>
                <a:ea typeface="Microsoft YaHei"/>
                <a:cs typeface="Microsoft YaHei"/>
              </a:rPr>
              <a:t>Perception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79320" y="21616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FE4FA"/>
                </a:solidFill>
                <a:latin typeface="Microsoft YaHei"/>
                <a:ea typeface="Microsoft YaHei"/>
                <a:cs typeface="Microsoft YaHei"/>
              </a:rPr>
              <a:t>水下采样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98558" y="1576864"/>
            <a:ext cx="403086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DS18B20 防水测温探头（5米线，探头置水下）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01415" y="1886902"/>
            <a:ext cx="42438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探头入水采样，5米线引至岸侧主板 · 防水/耐寒，-55℃~+125℃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01415" y="2153602"/>
            <a:ext cx="34004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7CA6"/>
                </a:solidFill>
                <a:latin typeface="Microsoft YaHei"/>
                <a:ea typeface="Microsoft YaHei"/>
                <a:cs typeface="Microsoft YaHei"/>
              </a:rPr>
              <a:t>岸侧部署主机，便于供电与维护，探头仅负责测温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84986" y="2440305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078D7"/>
                </a:solidFill>
                <a:latin typeface="Arial"/>
                <a:ea typeface="Microsoft YaHei"/>
                <a:cs typeface="Arial"/>
              </a:rPr>
              <a:t>▼</a:t>
            </a:r>
          </a:p>
        </p:txBody>
      </p:sp>
      <p:sp>
        <p:nvSpPr>
          <p:cNvPr id="14" name="Freeform 14"/>
          <p:cNvSpPr/>
          <p:nvPr/>
        </p:nvSpPr>
        <p:spPr>
          <a:xfrm>
            <a:off x="1524000" y="278130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5250" y="0"/>
                </a:moveTo>
                <a:lnTo>
                  <a:pt x="9048750" y="0"/>
                </a:lnTo>
                <a:cubicBezTo>
                  <a:pt x="9101355" y="0"/>
                  <a:pt x="9144000" y="42645"/>
                  <a:pt x="9144000" y="95250"/>
                </a:cubicBezTo>
                <a:lnTo>
                  <a:pt x="9144000" y="1047750"/>
                </a:lnTo>
                <a:cubicBezTo>
                  <a:pt x="9144000" y="1100355"/>
                  <a:pt x="9101355" y="1143000"/>
                  <a:pt x="90487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1524000" y="2781300"/>
            <a:ext cx="1905000" cy="1143000"/>
          </a:xfrm>
          <a:custGeom>
            <a:avLst/>
            <a:gdLst/>
            <a:ahLst/>
            <a:cxnLst/>
            <a:rect l="l" t="t" r="r" b="b"/>
            <a:pathLst>
              <a:path w="1905000" h="1143000">
                <a:moveTo>
                  <a:pt x="95250" y="0"/>
                </a:moveTo>
                <a:lnTo>
                  <a:pt x="1809750" y="0"/>
                </a:lnTo>
                <a:cubicBezTo>
                  <a:pt x="1862355" y="0"/>
                  <a:pt x="1905000" y="42645"/>
                  <a:pt x="1905000" y="95250"/>
                </a:cubicBezTo>
                <a:lnTo>
                  <a:pt x="1905000" y="1047750"/>
                </a:lnTo>
                <a:cubicBezTo>
                  <a:pt x="1905000" y="1100355"/>
                  <a:pt x="1862355" y="1143000"/>
                  <a:pt x="18097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4CA1E7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2075998" y="3031808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传输层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80105" y="335375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F1FB"/>
                </a:solidFill>
                <a:latin typeface="Microsoft YaHei"/>
                <a:ea typeface="Microsoft YaHei"/>
                <a:cs typeface="Microsoft YaHei"/>
              </a:rPr>
              <a:t>Transmission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22040" y="3609499"/>
            <a:ext cx="5089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F1FB"/>
                </a:solidFill>
                <a:latin typeface="Microsoft YaHei"/>
                <a:ea typeface="Microsoft YaHei"/>
                <a:cs typeface="Microsoft YaHei"/>
              </a:rPr>
              <a:t>4G 回传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698558" y="3024664"/>
            <a:ext cx="318032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合宙 Air780E（4G Cat.1 一体模组）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701415" y="3334702"/>
            <a:ext cx="36994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集成 MCU+4G，插物联网卡，户外无线回传 · 断点续传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701415" y="3601402"/>
            <a:ext cx="30017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7CA6"/>
                </a:solidFill>
                <a:latin typeface="Microsoft YaHei"/>
                <a:ea typeface="Microsoft YaHei"/>
                <a:cs typeface="Microsoft YaHei"/>
              </a:rPr>
              <a:t>弱网环境数据不丢失，4G 覆盖保障远程监测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984986" y="3888105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078D7"/>
                </a:solidFill>
                <a:latin typeface="Arial"/>
                <a:ea typeface="Microsoft YaHei"/>
                <a:cs typeface="Arial"/>
              </a:rPr>
              <a:t>▼</a:t>
            </a:r>
          </a:p>
        </p:txBody>
      </p:sp>
      <p:sp>
        <p:nvSpPr>
          <p:cNvPr id="23" name="Freeform 23"/>
          <p:cNvSpPr/>
          <p:nvPr/>
        </p:nvSpPr>
        <p:spPr>
          <a:xfrm>
            <a:off x="1524000" y="422910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5250" y="0"/>
                </a:moveTo>
                <a:lnTo>
                  <a:pt x="9048750" y="0"/>
                </a:lnTo>
                <a:cubicBezTo>
                  <a:pt x="9101355" y="0"/>
                  <a:pt x="9144000" y="42645"/>
                  <a:pt x="9144000" y="95250"/>
                </a:cubicBezTo>
                <a:lnTo>
                  <a:pt x="9144000" y="1047750"/>
                </a:lnTo>
                <a:cubicBezTo>
                  <a:pt x="9144000" y="1100355"/>
                  <a:pt x="9101355" y="1143000"/>
                  <a:pt x="90487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24" name="Freeform 24"/>
          <p:cNvSpPr/>
          <p:nvPr/>
        </p:nvSpPr>
        <p:spPr>
          <a:xfrm>
            <a:off x="1524000" y="4229100"/>
            <a:ext cx="1905000" cy="1143000"/>
          </a:xfrm>
          <a:custGeom>
            <a:avLst/>
            <a:gdLst/>
            <a:ahLst/>
            <a:cxnLst/>
            <a:rect l="l" t="t" r="r" b="b"/>
            <a:pathLst>
              <a:path w="1905000" h="1143000">
                <a:moveTo>
                  <a:pt x="95250" y="0"/>
                </a:moveTo>
                <a:lnTo>
                  <a:pt x="1809750" y="0"/>
                </a:lnTo>
                <a:cubicBezTo>
                  <a:pt x="1862355" y="0"/>
                  <a:pt x="1905000" y="42645"/>
                  <a:pt x="1905000" y="95250"/>
                </a:cubicBezTo>
                <a:lnTo>
                  <a:pt x="1905000" y="1047750"/>
                </a:lnTo>
                <a:cubicBezTo>
                  <a:pt x="1905000" y="1100355"/>
                  <a:pt x="1862355" y="1143000"/>
                  <a:pt x="18097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078D7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2075998" y="4479608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云平台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271474" y="480155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FE4FA"/>
                </a:solidFill>
                <a:latin typeface="Microsoft YaHei"/>
                <a:ea typeface="Microsoft YaHei"/>
                <a:cs typeface="Microsoft YaHei"/>
              </a:rPr>
              <a:t>Cloud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179320" y="50572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FE4FA"/>
                </a:solidFill>
                <a:latin typeface="Microsoft YaHei"/>
                <a:ea typeface="Microsoft YaHei"/>
                <a:cs typeface="Microsoft YaHei"/>
              </a:rPr>
              <a:t>数据中枢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698558" y="4472464"/>
            <a:ext cx="287726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IoT 接入平台 + 自研 Go 数据服务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701415" y="4782502"/>
            <a:ext cx="33007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MQTT 接入 · 时序存储 · 告警引擎 · 可视化看板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701415" y="5049202"/>
            <a:ext cx="29403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7CA6"/>
                </a:solidFill>
                <a:latin typeface="Microsoft YaHei"/>
                <a:ea typeface="Microsoft YaHei"/>
                <a:cs typeface="Microsoft YaHei"/>
              </a:rPr>
              <a:t>海量设备接入，稳定可靠的数据处理与告警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984986" y="5335905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078D7"/>
                </a:solidFill>
                <a:latin typeface="Arial"/>
                <a:ea typeface="Microsoft YaHei"/>
                <a:cs typeface="Arial"/>
              </a:rPr>
              <a:t>▼</a:t>
            </a:r>
          </a:p>
        </p:txBody>
      </p:sp>
      <p:sp>
        <p:nvSpPr>
          <p:cNvPr id="32" name="Freeform 32"/>
          <p:cNvSpPr/>
          <p:nvPr/>
        </p:nvSpPr>
        <p:spPr>
          <a:xfrm>
            <a:off x="1524000" y="5676900"/>
            <a:ext cx="9144000" cy="952500"/>
          </a:xfrm>
          <a:custGeom>
            <a:avLst/>
            <a:gdLst/>
            <a:ahLst/>
            <a:cxnLst/>
            <a:rect l="l" t="t" r="r" b="b"/>
            <a:pathLst>
              <a:path w="9144000" h="952500">
                <a:moveTo>
                  <a:pt x="95250" y="0"/>
                </a:moveTo>
                <a:lnTo>
                  <a:pt x="9048750" y="0"/>
                </a:lnTo>
                <a:cubicBezTo>
                  <a:pt x="9101355" y="0"/>
                  <a:pt x="9144000" y="42645"/>
                  <a:pt x="9144000" y="95250"/>
                </a:cubicBezTo>
                <a:lnTo>
                  <a:pt x="9144000" y="857250"/>
                </a:lnTo>
                <a:cubicBezTo>
                  <a:pt x="9144000" y="909855"/>
                  <a:pt x="9101355" y="952500"/>
                  <a:pt x="90487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33" name="Freeform 33"/>
          <p:cNvSpPr/>
          <p:nvPr/>
        </p:nvSpPr>
        <p:spPr>
          <a:xfrm>
            <a:off x="1524000" y="5676900"/>
            <a:ext cx="1905000" cy="952500"/>
          </a:xfrm>
          <a:custGeom>
            <a:avLst/>
            <a:gdLst/>
            <a:ahLst/>
            <a:cxnLst/>
            <a:rect l="l" t="t" r="r" b="b"/>
            <a:pathLst>
              <a:path w="1905000" h="952500">
                <a:moveTo>
                  <a:pt x="95250" y="0"/>
                </a:moveTo>
                <a:lnTo>
                  <a:pt x="1809750" y="0"/>
                </a:lnTo>
                <a:cubicBezTo>
                  <a:pt x="1862355" y="0"/>
                  <a:pt x="1905000" y="42645"/>
                  <a:pt x="1905000" y="95250"/>
                </a:cubicBezTo>
                <a:lnTo>
                  <a:pt x="1905000" y="857250"/>
                </a:lnTo>
                <a:cubicBezTo>
                  <a:pt x="1905000" y="909855"/>
                  <a:pt x="1862355" y="952500"/>
                  <a:pt x="18097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4CA1E7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949482" y="589883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应用终端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056781" y="6230302"/>
            <a:ext cx="8394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F1FB"/>
                </a:solidFill>
                <a:latin typeface="Microsoft YaHei"/>
                <a:ea typeface="Microsoft YaHei"/>
                <a:cs typeface="Microsoft YaHei"/>
              </a:rPr>
              <a:t>Application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699510" y="5871210"/>
            <a:ext cx="38857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微信小程序登录（实时/历史/告警）+ 指挥大屏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701415" y="6192202"/>
            <a:ext cx="37531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7CA6"/>
                </a:solidFill>
                <a:latin typeface="Microsoft YaHei"/>
                <a:ea typeface="Microsoft YaHei"/>
                <a:cs typeface="Microsoft YaHei"/>
              </a:rPr>
              <a:t>扫码即用免安装，实时查看 · 历史查询 · 异常告警推送</a:t>
            </a:r>
          </a:p>
        </p:txBody>
      </p:sp>
      <p:sp>
        <p:nvSpPr>
          <p:cNvPr id="38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096625" y="6524625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fld id="{8B3F1C2A-4D6E-4A11-9C3B-0F1E2D3C4B5A}" type="slidenum">
              <a:rPr lang="zh-CN" sz="1050" dirty="0">
                <a:solidFill>
                  <a:srgbClr val="666666"/>
                </a:solidFill>
                <a:latin typeface="Microsoft YaHei"/>
                <a:ea typeface="微软雅黑"/>
              </a:rPr>
              <a:t>1</a:t>
            </a:fld>
            <a:endParaRPr lang="zh-CN" sz="10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2460" y="394335"/>
            <a:ext cx="385715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系统组成 · 六大模块</a:t>
            </a:r>
          </a:p>
        </p:txBody>
      </p:sp>
      <p:sp>
        <p:nvSpPr>
          <p:cNvPr id="3" name="Rectangle 3"/>
          <p:cNvSpPr/>
          <p:nvPr/>
        </p:nvSpPr>
        <p:spPr>
          <a:xfrm>
            <a:off x="666750" y="857250"/>
            <a:ext cx="1143000" cy="57150"/>
          </a:xfrm>
          <a:prstGeom prst="rect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2462" y="1021556"/>
            <a:ext cx="29450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端 - 云 - 用 - 装 全栈闭环，模块化交付</a:t>
            </a:r>
          </a:p>
        </p:txBody>
      </p:sp>
      <p:sp>
        <p:nvSpPr>
          <p:cNvPr id="5" name="Freeform 5"/>
          <p:cNvSpPr/>
          <p:nvPr/>
        </p:nvSpPr>
        <p:spPr>
          <a:xfrm>
            <a:off x="666750" y="1381125"/>
            <a:ext cx="3390900" cy="1238250"/>
          </a:xfrm>
          <a:custGeom>
            <a:avLst/>
            <a:gdLst/>
            <a:ahLst/>
            <a:cxnLst/>
            <a:rect l="l" t="t" r="r" b="b"/>
            <a:pathLst>
              <a:path w="3390900" h="1238250">
                <a:moveTo>
                  <a:pt x="95250" y="0"/>
                </a:moveTo>
                <a:lnTo>
                  <a:pt x="3295650" y="0"/>
                </a:lnTo>
                <a:cubicBezTo>
                  <a:pt x="3348255" y="0"/>
                  <a:pt x="3390900" y="42645"/>
                  <a:pt x="3390900" y="95250"/>
                </a:cubicBezTo>
                <a:lnTo>
                  <a:pt x="3390900" y="1143000"/>
                </a:lnTo>
                <a:cubicBezTo>
                  <a:pt x="3390900" y="1195605"/>
                  <a:pt x="3348255" y="1238250"/>
                  <a:pt x="32956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57250" y="1533525"/>
            <a:ext cx="11537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① 感知终端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2965" y="1867852"/>
            <a:ext cx="17825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DS18B20 防水探头（5米）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2965" y="209645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探头置水下，多点采集水温</a:t>
            </a:r>
          </a:p>
        </p:txBody>
      </p:sp>
      <p:sp>
        <p:nvSpPr>
          <p:cNvPr id="9" name="Freeform 9"/>
          <p:cNvSpPr/>
          <p:nvPr/>
        </p:nvSpPr>
        <p:spPr>
          <a:xfrm>
            <a:off x="4229100" y="1381125"/>
            <a:ext cx="3390900" cy="1238250"/>
          </a:xfrm>
          <a:custGeom>
            <a:avLst/>
            <a:gdLst/>
            <a:ahLst/>
            <a:cxnLst/>
            <a:rect l="l" t="t" r="r" b="b"/>
            <a:pathLst>
              <a:path w="3390900" h="1238250">
                <a:moveTo>
                  <a:pt x="95250" y="0"/>
                </a:moveTo>
                <a:lnTo>
                  <a:pt x="3295650" y="0"/>
                </a:lnTo>
                <a:cubicBezTo>
                  <a:pt x="3348255" y="0"/>
                  <a:pt x="3390900" y="42645"/>
                  <a:pt x="3390900" y="95250"/>
                </a:cubicBezTo>
                <a:lnTo>
                  <a:pt x="3390900" y="1143000"/>
                </a:lnTo>
                <a:cubicBezTo>
                  <a:pt x="3390900" y="1195605"/>
                  <a:pt x="3348255" y="1238250"/>
                  <a:pt x="32956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419600" y="1533525"/>
            <a:ext cx="11537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② 主机终端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25315" y="1867852"/>
            <a:ext cx="18362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合宙 Air780E（4G Cat.1）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25315" y="2096452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岸侧部署，数据汇聚与断点续传</a:t>
            </a:r>
          </a:p>
        </p:txBody>
      </p:sp>
      <p:sp>
        <p:nvSpPr>
          <p:cNvPr id="13" name="Freeform 13"/>
          <p:cNvSpPr/>
          <p:nvPr/>
        </p:nvSpPr>
        <p:spPr>
          <a:xfrm>
            <a:off x="7791450" y="1381125"/>
            <a:ext cx="3390900" cy="1238250"/>
          </a:xfrm>
          <a:custGeom>
            <a:avLst/>
            <a:gdLst/>
            <a:ahLst/>
            <a:cxnLst/>
            <a:rect l="l" t="t" r="r" b="b"/>
            <a:pathLst>
              <a:path w="3390900" h="1238250">
                <a:moveTo>
                  <a:pt x="95250" y="0"/>
                </a:moveTo>
                <a:lnTo>
                  <a:pt x="3295650" y="0"/>
                </a:lnTo>
                <a:cubicBezTo>
                  <a:pt x="3348255" y="0"/>
                  <a:pt x="3390900" y="42645"/>
                  <a:pt x="3390900" y="95250"/>
                </a:cubicBezTo>
                <a:lnTo>
                  <a:pt x="3390900" y="1143000"/>
                </a:lnTo>
                <a:cubicBezTo>
                  <a:pt x="3390900" y="1195605"/>
                  <a:pt x="3348255" y="1238250"/>
                  <a:pt x="32956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981950" y="1533525"/>
            <a:ext cx="11537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③ 供电模块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87665" y="1867852"/>
            <a:ext cx="18438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18650 锂电池（2600mAh）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87665" y="2096452"/>
            <a:ext cx="17518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岸侧供电，续航约 3~4 周</a:t>
            </a:r>
          </a:p>
        </p:txBody>
      </p:sp>
      <p:sp>
        <p:nvSpPr>
          <p:cNvPr id="17" name="Freeform 17"/>
          <p:cNvSpPr/>
          <p:nvPr/>
        </p:nvSpPr>
        <p:spPr>
          <a:xfrm>
            <a:off x="666750" y="2781300"/>
            <a:ext cx="3390900" cy="1238250"/>
          </a:xfrm>
          <a:custGeom>
            <a:avLst/>
            <a:gdLst/>
            <a:ahLst/>
            <a:cxnLst/>
            <a:rect l="l" t="t" r="r" b="b"/>
            <a:pathLst>
              <a:path w="3390900" h="1238250">
                <a:moveTo>
                  <a:pt x="95250" y="0"/>
                </a:moveTo>
                <a:lnTo>
                  <a:pt x="3295650" y="0"/>
                </a:lnTo>
                <a:cubicBezTo>
                  <a:pt x="3348255" y="0"/>
                  <a:pt x="3390900" y="42645"/>
                  <a:pt x="3390900" y="95250"/>
                </a:cubicBezTo>
                <a:lnTo>
                  <a:pt x="3390900" y="1143000"/>
                </a:lnTo>
                <a:cubicBezTo>
                  <a:pt x="3390900" y="1195605"/>
                  <a:pt x="3348255" y="1238250"/>
                  <a:pt x="32956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57250" y="2933700"/>
            <a:ext cx="92371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④ 云平台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62965" y="3268028"/>
            <a:ext cx="15985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IoT 接入 + Go 数据服务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62965" y="3496628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存储、告警、可视化、多租户</a:t>
            </a:r>
          </a:p>
        </p:txBody>
      </p:sp>
      <p:sp>
        <p:nvSpPr>
          <p:cNvPr id="21" name="Freeform 21"/>
          <p:cNvSpPr/>
          <p:nvPr/>
        </p:nvSpPr>
        <p:spPr>
          <a:xfrm>
            <a:off x="4229100" y="2781300"/>
            <a:ext cx="3390900" cy="1238250"/>
          </a:xfrm>
          <a:custGeom>
            <a:avLst/>
            <a:gdLst/>
            <a:ahLst/>
            <a:cxnLst/>
            <a:rect l="l" t="t" r="r" b="b"/>
            <a:pathLst>
              <a:path w="3390900" h="1238250">
                <a:moveTo>
                  <a:pt x="95250" y="0"/>
                </a:moveTo>
                <a:lnTo>
                  <a:pt x="3295650" y="0"/>
                </a:lnTo>
                <a:cubicBezTo>
                  <a:pt x="3348255" y="0"/>
                  <a:pt x="3390900" y="42645"/>
                  <a:pt x="3390900" y="95250"/>
                </a:cubicBezTo>
                <a:lnTo>
                  <a:pt x="3390900" y="1143000"/>
                </a:lnTo>
                <a:cubicBezTo>
                  <a:pt x="3390900" y="1195605"/>
                  <a:pt x="3348255" y="1238250"/>
                  <a:pt x="32956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419600" y="2933700"/>
            <a:ext cx="11537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⑤ 应用终端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425315" y="3268028"/>
            <a:ext cx="18899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微信小程序登录 + 指挥大屏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25315" y="3496628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实时曲线、历史、告警推送</a:t>
            </a:r>
          </a:p>
        </p:txBody>
      </p:sp>
      <p:sp>
        <p:nvSpPr>
          <p:cNvPr id="25" name="Freeform 25"/>
          <p:cNvSpPr/>
          <p:nvPr/>
        </p:nvSpPr>
        <p:spPr>
          <a:xfrm>
            <a:off x="7791450" y="2781300"/>
            <a:ext cx="3390900" cy="1238250"/>
          </a:xfrm>
          <a:custGeom>
            <a:avLst/>
            <a:gdLst/>
            <a:ahLst/>
            <a:cxnLst/>
            <a:rect l="l" t="t" r="r" b="b"/>
            <a:pathLst>
              <a:path w="3390900" h="1238250">
                <a:moveTo>
                  <a:pt x="95250" y="0"/>
                </a:moveTo>
                <a:lnTo>
                  <a:pt x="3295650" y="0"/>
                </a:lnTo>
                <a:cubicBezTo>
                  <a:pt x="3348255" y="0"/>
                  <a:pt x="3390900" y="42645"/>
                  <a:pt x="3390900" y="95250"/>
                </a:cubicBezTo>
                <a:lnTo>
                  <a:pt x="3390900" y="1143000"/>
                </a:lnTo>
                <a:cubicBezTo>
                  <a:pt x="3390900" y="1195605"/>
                  <a:pt x="3348255" y="1238250"/>
                  <a:pt x="32956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81950" y="2933700"/>
            <a:ext cx="11537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⑥ 安装服务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7665" y="3268028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现场勘测、水下布局、调试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87665" y="3496628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上线验收、售后运维保障</a:t>
            </a:r>
          </a:p>
        </p:txBody>
      </p:sp>
      <p:sp>
        <p:nvSpPr>
          <p:cNvPr id="29" name="Freeform 29"/>
          <p:cNvSpPr/>
          <p:nvPr/>
        </p:nvSpPr>
        <p:spPr>
          <a:xfrm>
            <a:off x="666750" y="4286250"/>
            <a:ext cx="10744200" cy="1238250"/>
          </a:xfrm>
          <a:custGeom>
            <a:avLst/>
            <a:gdLst/>
            <a:ahLst/>
            <a:cxnLst/>
            <a:rect l="l" t="t" r="r" b="b"/>
            <a:pathLst>
              <a:path w="10744200" h="1238250">
                <a:moveTo>
                  <a:pt x="95250" y="0"/>
                </a:moveTo>
                <a:lnTo>
                  <a:pt x="10648950" y="0"/>
                </a:lnTo>
                <a:cubicBezTo>
                  <a:pt x="10701555" y="0"/>
                  <a:pt x="10744200" y="42645"/>
                  <a:pt x="10744200" y="95250"/>
                </a:cubicBezTo>
                <a:lnTo>
                  <a:pt x="10744200" y="1143000"/>
                </a:lnTo>
                <a:cubicBezTo>
                  <a:pt x="10744200" y="1195605"/>
                  <a:pt x="10701555" y="1238250"/>
                  <a:pt x="106489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7F8FA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5297114" y="4445318"/>
            <a:ext cx="14834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端到端交付闭环</a:t>
            </a:r>
          </a:p>
        </p:txBody>
      </p:sp>
      <p:sp>
        <p:nvSpPr>
          <p:cNvPr id="31" name="Ellipse 31"/>
          <p:cNvSpPr/>
          <p:nvPr/>
        </p:nvSpPr>
        <p:spPr>
          <a:xfrm>
            <a:off x="2038350" y="4800600"/>
            <a:ext cx="495300" cy="495300"/>
          </a:xfrm>
          <a:prstGeom prst="ellipse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2111645" y="50015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采集</a:t>
            </a:r>
          </a:p>
        </p:txBody>
      </p:sp>
      <p:sp>
        <p:nvSpPr>
          <p:cNvPr id="33" name="Line 33"/>
          <p:cNvSpPr/>
          <p:nvPr/>
        </p:nvSpPr>
        <p:spPr>
          <a:xfrm>
            <a:off x="2667000" y="504825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B8D4F2"/>
            </a:solidFill>
          </a:ln>
        </p:spPr>
      </p:sp>
      <p:sp>
        <p:nvSpPr>
          <p:cNvPr id="34" name="Ellipse 34"/>
          <p:cNvSpPr/>
          <p:nvPr/>
        </p:nvSpPr>
        <p:spPr>
          <a:xfrm>
            <a:off x="4133850" y="4800600"/>
            <a:ext cx="495300" cy="495300"/>
          </a:xfrm>
          <a:prstGeom prst="ellipse">
            <a:avLst/>
          </a:prstGeom>
          <a:solidFill>
            <a:srgbClr val="4CA1E7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4207145" y="50015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传输</a:t>
            </a:r>
          </a:p>
        </p:txBody>
      </p:sp>
      <p:sp>
        <p:nvSpPr>
          <p:cNvPr id="36" name="Line 36"/>
          <p:cNvSpPr/>
          <p:nvPr/>
        </p:nvSpPr>
        <p:spPr>
          <a:xfrm>
            <a:off x="4762500" y="504825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B8D4F2"/>
            </a:solidFill>
          </a:ln>
        </p:spPr>
      </p:sp>
      <p:sp>
        <p:nvSpPr>
          <p:cNvPr id="37" name="Ellipse 37"/>
          <p:cNvSpPr/>
          <p:nvPr/>
        </p:nvSpPr>
        <p:spPr>
          <a:xfrm>
            <a:off x="6229350" y="4800600"/>
            <a:ext cx="495300" cy="495300"/>
          </a:xfrm>
          <a:prstGeom prst="ellipse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302645" y="50015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云端</a:t>
            </a:r>
          </a:p>
        </p:txBody>
      </p:sp>
      <p:sp>
        <p:nvSpPr>
          <p:cNvPr id="39" name="Line 39"/>
          <p:cNvSpPr/>
          <p:nvPr/>
        </p:nvSpPr>
        <p:spPr>
          <a:xfrm>
            <a:off x="6858000" y="504825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B8D4F2"/>
            </a:solidFill>
          </a:ln>
        </p:spPr>
      </p:sp>
      <p:sp>
        <p:nvSpPr>
          <p:cNvPr id="40" name="Ellipse 40"/>
          <p:cNvSpPr/>
          <p:nvPr/>
        </p:nvSpPr>
        <p:spPr>
          <a:xfrm>
            <a:off x="8324850" y="4800600"/>
            <a:ext cx="495300" cy="495300"/>
          </a:xfrm>
          <a:prstGeom prst="ellipse">
            <a:avLst/>
          </a:prstGeom>
          <a:solidFill>
            <a:srgbClr val="4CA1E7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398145" y="50015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应用</a:t>
            </a:r>
          </a:p>
        </p:txBody>
      </p:sp>
      <p:sp>
        <p:nvSpPr>
          <p:cNvPr id="42" name="Line 42"/>
          <p:cNvSpPr/>
          <p:nvPr/>
        </p:nvSpPr>
        <p:spPr>
          <a:xfrm>
            <a:off x="8953500" y="504825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B8D4F2"/>
            </a:solidFill>
          </a:ln>
        </p:spPr>
      </p:sp>
      <p:sp>
        <p:nvSpPr>
          <p:cNvPr id="43" name="Ellipse 43"/>
          <p:cNvSpPr/>
          <p:nvPr/>
        </p:nvSpPr>
        <p:spPr>
          <a:xfrm>
            <a:off x="10420350" y="4800600"/>
            <a:ext cx="495300" cy="495300"/>
          </a:xfrm>
          <a:prstGeom prst="ellipse">
            <a:avLst/>
          </a:prstGeom>
          <a:solidFill>
            <a:srgbClr val="002E5D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0493645" y="50015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告警</a:t>
            </a:r>
          </a:p>
        </p:txBody>
      </p:sp>
      <p:sp>
        <p:nvSpPr>
          <p:cNvPr id="45" name="Freeform 45"/>
          <p:cNvSpPr/>
          <p:nvPr/>
        </p:nvSpPr>
        <p:spPr>
          <a:xfrm>
            <a:off x="666750" y="5772150"/>
            <a:ext cx="10744200" cy="762000"/>
          </a:xfrm>
          <a:custGeom>
            <a:avLst/>
            <a:gdLst/>
            <a:ahLst/>
            <a:cxnLst/>
            <a:rect l="l" t="t" r="r" b="b"/>
            <a:pathLst>
              <a:path w="10744200" h="762000">
                <a:moveTo>
                  <a:pt x="95250" y="0"/>
                </a:moveTo>
                <a:lnTo>
                  <a:pt x="10648950" y="0"/>
                </a:lnTo>
                <a:cubicBezTo>
                  <a:pt x="10701555" y="0"/>
                  <a:pt x="10744200" y="42645"/>
                  <a:pt x="10744200" y="95250"/>
                </a:cubicBezTo>
                <a:lnTo>
                  <a:pt x="10744200" y="666750"/>
                </a:lnTo>
                <a:cubicBezTo>
                  <a:pt x="10744200" y="719355"/>
                  <a:pt x="10701555" y="762000"/>
                  <a:pt x="10648950" y="762000"/>
                </a:cubicBezTo>
                <a:lnTo>
                  <a:pt x="95250" y="762000"/>
                </a:lnTo>
                <a:cubicBezTo>
                  <a:pt x="42645" y="762000"/>
                  <a:pt x="0" y="719355"/>
                  <a:pt x="0" y="666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02E5D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3835479" y="5999321"/>
            <a:ext cx="440674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六大模块灵活组合，支持按需定制与弹性扩展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744879" y="6295549"/>
            <a:ext cx="25879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0C4E3"/>
                </a:solidFill>
                <a:latin typeface="Microsoft YaHei"/>
                <a:ea typeface="Microsoft YaHei"/>
                <a:cs typeface="Microsoft YaHei"/>
              </a:rPr>
              <a:t>从单点感知到多基地集团化管理平滑演进</a:t>
            </a:r>
          </a:p>
        </p:txBody>
      </p:sp>
      <p:sp>
        <p:nvSpPr>
          <p:cNvPr id="48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096625" y="6524625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fld id="{8B3F1C2A-4D6E-4A11-9C3B-0F1E2D3C4B5A}" type="slidenum">
              <a:rPr lang="zh-CN" sz="1050" dirty="0">
                <a:solidFill>
                  <a:srgbClr val="666666"/>
                </a:solidFill>
                <a:latin typeface="Microsoft YaHei"/>
                <a:ea typeface="微软雅黑"/>
              </a:rPr>
              <a:t>1</a:t>
            </a:fld>
            <a:endParaRPr lang="zh-CN" sz="10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2460" y="394335"/>
            <a:ext cx="33809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云平台与应用能力</a:t>
            </a:r>
          </a:p>
        </p:txBody>
      </p:sp>
      <p:sp>
        <p:nvSpPr>
          <p:cNvPr id="3" name="Rectangle 3"/>
          <p:cNvSpPr/>
          <p:nvPr/>
        </p:nvSpPr>
        <p:spPr>
          <a:xfrm>
            <a:off x="666750" y="857250"/>
            <a:ext cx="1143000" cy="57150"/>
          </a:xfrm>
          <a:prstGeom prst="rect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2462" y="1021556"/>
            <a:ext cx="36679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云端数据中枢 + 多端应用，声光与消息双通道告警</a:t>
            </a:r>
          </a:p>
        </p:txBody>
      </p:sp>
      <p:sp>
        <p:nvSpPr>
          <p:cNvPr id="5" name="Freeform 5"/>
          <p:cNvSpPr/>
          <p:nvPr/>
        </p:nvSpPr>
        <p:spPr>
          <a:xfrm>
            <a:off x="666750" y="1381125"/>
            <a:ext cx="5219700" cy="2286000"/>
          </a:xfrm>
          <a:custGeom>
            <a:avLst/>
            <a:gdLst/>
            <a:ahLst/>
            <a:cxnLst/>
            <a:rect l="l" t="t" r="r" b="b"/>
            <a:pathLst>
              <a:path w="5219700" h="2286000">
                <a:moveTo>
                  <a:pt x="95250" y="0"/>
                </a:moveTo>
                <a:lnTo>
                  <a:pt x="5124450" y="0"/>
                </a:lnTo>
                <a:cubicBezTo>
                  <a:pt x="5177055" y="0"/>
                  <a:pt x="5219700" y="42645"/>
                  <a:pt x="5219700" y="95250"/>
                </a:cubicBezTo>
                <a:lnTo>
                  <a:pt x="5219700" y="2190750"/>
                </a:lnTo>
                <a:cubicBezTo>
                  <a:pt x="5219700" y="2243355"/>
                  <a:pt x="5177055" y="2286000"/>
                  <a:pt x="51244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666750" y="1381125"/>
            <a:ext cx="5219700" cy="419100"/>
          </a:xfrm>
          <a:custGeom>
            <a:avLst/>
            <a:gdLst/>
            <a:ahLst/>
            <a:cxnLst/>
            <a:rect l="l" t="t" r="r" b="b"/>
            <a:pathLst>
              <a:path w="5219700" h="419100">
                <a:moveTo>
                  <a:pt x="95250" y="0"/>
                </a:moveTo>
                <a:lnTo>
                  <a:pt x="5124450" y="0"/>
                </a:lnTo>
                <a:cubicBezTo>
                  <a:pt x="5177055" y="0"/>
                  <a:pt x="5219700" y="42645"/>
                  <a:pt x="5219700" y="95250"/>
                </a:cubicBezTo>
                <a:lnTo>
                  <a:pt x="5219700" y="323850"/>
                </a:lnTo>
                <a:cubicBezTo>
                  <a:pt x="5219700" y="376455"/>
                  <a:pt x="5177055" y="419100"/>
                  <a:pt x="5124450" y="419100"/>
                </a:cubicBezTo>
                <a:lnTo>
                  <a:pt x="95250" y="419100"/>
                </a:lnTo>
                <a:cubicBezTo>
                  <a:pt x="42645" y="419100"/>
                  <a:pt x="0" y="376455"/>
                  <a:pt x="0" y="3238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078D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40105" y="15116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云端平台能力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2962" y="1916906"/>
            <a:ext cx="16305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· MQTT 海量设备接入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2962" y="2183606"/>
            <a:ext cx="16469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· 时序数据高并发存储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2962" y="2450306"/>
            <a:ext cx="18112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· 规则引擎智能告警判定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2962" y="2717006"/>
            <a:ext cx="13183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· 可视化数据看板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2962" y="2983706"/>
            <a:ext cx="190166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· 多租户/多基地权限管理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2962" y="3250406"/>
            <a:ext cx="182772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· OpenAPI 生态开放对接</a:t>
            </a:r>
          </a:p>
        </p:txBody>
      </p:sp>
      <p:sp>
        <p:nvSpPr>
          <p:cNvPr id="14" name="Freeform 14"/>
          <p:cNvSpPr/>
          <p:nvPr/>
        </p:nvSpPr>
        <p:spPr>
          <a:xfrm>
            <a:off x="6057900" y="1381125"/>
            <a:ext cx="5219700" cy="2286000"/>
          </a:xfrm>
          <a:custGeom>
            <a:avLst/>
            <a:gdLst/>
            <a:ahLst/>
            <a:cxnLst/>
            <a:rect l="l" t="t" r="r" b="b"/>
            <a:pathLst>
              <a:path w="5219700" h="2286000">
                <a:moveTo>
                  <a:pt x="95250" y="0"/>
                </a:moveTo>
                <a:lnTo>
                  <a:pt x="5124450" y="0"/>
                </a:lnTo>
                <a:cubicBezTo>
                  <a:pt x="5177055" y="0"/>
                  <a:pt x="5219700" y="42645"/>
                  <a:pt x="5219700" y="95250"/>
                </a:cubicBezTo>
                <a:lnTo>
                  <a:pt x="5219700" y="2190750"/>
                </a:lnTo>
                <a:cubicBezTo>
                  <a:pt x="5219700" y="2243355"/>
                  <a:pt x="5177055" y="2286000"/>
                  <a:pt x="51244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6057900" y="1381125"/>
            <a:ext cx="5219700" cy="419100"/>
          </a:xfrm>
          <a:custGeom>
            <a:avLst/>
            <a:gdLst/>
            <a:ahLst/>
            <a:cxnLst/>
            <a:rect l="l" t="t" r="r" b="b"/>
            <a:pathLst>
              <a:path w="5219700" h="419100">
                <a:moveTo>
                  <a:pt x="95250" y="0"/>
                </a:moveTo>
                <a:lnTo>
                  <a:pt x="5124450" y="0"/>
                </a:lnTo>
                <a:cubicBezTo>
                  <a:pt x="5177055" y="0"/>
                  <a:pt x="5219700" y="42645"/>
                  <a:pt x="5219700" y="95250"/>
                </a:cubicBezTo>
                <a:lnTo>
                  <a:pt x="5219700" y="323850"/>
                </a:lnTo>
                <a:cubicBezTo>
                  <a:pt x="5219700" y="376455"/>
                  <a:pt x="5177055" y="419100"/>
                  <a:pt x="5124450" y="419100"/>
                </a:cubicBezTo>
                <a:lnTo>
                  <a:pt x="95250" y="419100"/>
                </a:lnTo>
                <a:cubicBezTo>
                  <a:pt x="42645" y="419100"/>
                  <a:pt x="0" y="376455"/>
                  <a:pt x="0" y="3238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4CA1E7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231255" y="15116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应用终端能力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34112" y="1916906"/>
            <a:ext cx="14826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· 实时温度曲线展示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34112" y="2183606"/>
            <a:ext cx="16469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· 历史数据查询与导出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234112" y="2450306"/>
            <a:ext cx="190166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· 微信/短信告警信息推送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34112" y="2717006"/>
            <a:ext cx="16469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· 多基地统一监控大屏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234112" y="2983706"/>
            <a:ext cx="16469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· 权限分级与设备管理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234112" y="3250406"/>
            <a:ext cx="13183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· 日周月运营报表</a:t>
            </a:r>
          </a:p>
        </p:txBody>
      </p:sp>
      <p:sp>
        <p:nvSpPr>
          <p:cNvPr id="23" name="Freeform 23"/>
          <p:cNvSpPr/>
          <p:nvPr/>
        </p:nvSpPr>
        <p:spPr>
          <a:xfrm>
            <a:off x="666750" y="3905250"/>
            <a:ext cx="10744200" cy="1238250"/>
          </a:xfrm>
          <a:custGeom>
            <a:avLst/>
            <a:gdLst/>
            <a:ahLst/>
            <a:cxnLst/>
            <a:rect l="l" t="t" r="r" b="b"/>
            <a:pathLst>
              <a:path w="10744200" h="1238250">
                <a:moveTo>
                  <a:pt x="95250" y="0"/>
                </a:moveTo>
                <a:lnTo>
                  <a:pt x="10648950" y="0"/>
                </a:lnTo>
                <a:cubicBezTo>
                  <a:pt x="10701555" y="0"/>
                  <a:pt x="10744200" y="42645"/>
                  <a:pt x="10744200" y="95250"/>
                </a:cubicBezTo>
                <a:lnTo>
                  <a:pt x="10744200" y="1143000"/>
                </a:lnTo>
                <a:cubicBezTo>
                  <a:pt x="10744200" y="1195605"/>
                  <a:pt x="10701555" y="1238250"/>
                  <a:pt x="106489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4E5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38200" y="406717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871E"/>
                </a:solidFill>
                <a:latin typeface="Microsoft YaHei"/>
                <a:ea typeface="Microsoft YaHei"/>
                <a:cs typeface="Microsoft YaHei"/>
              </a:rPr>
              <a:t>智能告警体系</a:t>
            </a:r>
          </a:p>
        </p:txBody>
      </p:sp>
      <p:sp>
        <p:nvSpPr>
          <p:cNvPr id="25" name="Freeform 25"/>
          <p:cNvSpPr/>
          <p:nvPr/>
        </p:nvSpPr>
        <p:spPr>
          <a:xfrm>
            <a:off x="857250" y="4438650"/>
            <a:ext cx="2381250" cy="533400"/>
          </a:xfrm>
          <a:custGeom>
            <a:avLst/>
            <a:gdLst/>
            <a:ahLst/>
            <a:cxnLst/>
            <a:rect l="l" t="t" r="r" b="b"/>
            <a:pathLst>
              <a:path w="2381250" h="533400">
                <a:moveTo>
                  <a:pt x="76200" y="0"/>
                </a:moveTo>
                <a:lnTo>
                  <a:pt x="2305050" y="0"/>
                </a:lnTo>
                <a:cubicBezTo>
                  <a:pt x="2347134" y="0"/>
                  <a:pt x="2381250" y="34116"/>
                  <a:pt x="2381250" y="76200"/>
                </a:cubicBezTo>
                <a:lnTo>
                  <a:pt x="2381250" y="457200"/>
                </a:lnTo>
                <a:cubicBezTo>
                  <a:pt x="2381250" y="499284"/>
                  <a:pt x="2347134" y="533400"/>
                  <a:pt x="2305050" y="533400"/>
                </a:cubicBezTo>
                <a:lnTo>
                  <a:pt x="76200" y="533400"/>
                </a:lnTo>
                <a:cubicBezTo>
                  <a:pt x="34116" y="533400"/>
                  <a:pt x="0" y="499284"/>
                  <a:pt x="0" y="457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374753" y="4613910"/>
            <a:ext cx="13462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8871E"/>
                </a:solidFill>
                <a:latin typeface="Microsoft YaHei"/>
                <a:ea typeface="Microsoft YaHei"/>
                <a:cs typeface="Microsoft YaHei"/>
              </a:rPr>
              <a:t>超温 / 低温告警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10665" y="481774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A6A3A"/>
                </a:solidFill>
                <a:latin typeface="Microsoft YaHei"/>
                <a:ea typeface="Microsoft YaHei"/>
                <a:cs typeface="Microsoft YaHei"/>
              </a:rPr>
              <a:t>水温超阈值即触发</a:t>
            </a:r>
          </a:p>
        </p:txBody>
      </p:sp>
      <p:sp>
        <p:nvSpPr>
          <p:cNvPr id="28" name="Freeform 28"/>
          <p:cNvSpPr/>
          <p:nvPr/>
        </p:nvSpPr>
        <p:spPr>
          <a:xfrm>
            <a:off x="3390900" y="4438650"/>
            <a:ext cx="2381250" cy="533400"/>
          </a:xfrm>
          <a:custGeom>
            <a:avLst/>
            <a:gdLst/>
            <a:ahLst/>
            <a:cxnLst/>
            <a:rect l="l" t="t" r="r" b="b"/>
            <a:pathLst>
              <a:path w="2381250" h="533400">
                <a:moveTo>
                  <a:pt x="76200" y="0"/>
                </a:moveTo>
                <a:lnTo>
                  <a:pt x="2305050" y="0"/>
                </a:lnTo>
                <a:cubicBezTo>
                  <a:pt x="2347134" y="0"/>
                  <a:pt x="2381250" y="34116"/>
                  <a:pt x="2381250" y="76200"/>
                </a:cubicBezTo>
                <a:lnTo>
                  <a:pt x="2381250" y="457200"/>
                </a:lnTo>
                <a:cubicBezTo>
                  <a:pt x="2381250" y="499284"/>
                  <a:pt x="2347134" y="533400"/>
                  <a:pt x="2305050" y="533400"/>
                </a:cubicBezTo>
                <a:lnTo>
                  <a:pt x="76200" y="533400"/>
                </a:lnTo>
                <a:cubicBezTo>
                  <a:pt x="34116" y="533400"/>
                  <a:pt x="0" y="499284"/>
                  <a:pt x="0" y="457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014216" y="461391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8871E"/>
                </a:solidFill>
                <a:latin typeface="Microsoft YaHei"/>
                <a:ea typeface="Microsoft YaHei"/>
                <a:cs typeface="Microsoft YaHei"/>
              </a:rPr>
              <a:t>设备离线告警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044315" y="481774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A6A3A"/>
                </a:solidFill>
                <a:latin typeface="Microsoft YaHei"/>
                <a:ea typeface="Microsoft YaHei"/>
                <a:cs typeface="Microsoft YaHei"/>
              </a:rPr>
              <a:t>断连超时自动提醒</a:t>
            </a:r>
          </a:p>
        </p:txBody>
      </p:sp>
      <p:sp>
        <p:nvSpPr>
          <p:cNvPr id="31" name="Freeform 31"/>
          <p:cNvSpPr/>
          <p:nvPr/>
        </p:nvSpPr>
        <p:spPr>
          <a:xfrm>
            <a:off x="5924550" y="4438650"/>
            <a:ext cx="2381250" cy="533400"/>
          </a:xfrm>
          <a:custGeom>
            <a:avLst/>
            <a:gdLst/>
            <a:ahLst/>
            <a:cxnLst/>
            <a:rect l="l" t="t" r="r" b="b"/>
            <a:pathLst>
              <a:path w="2381250" h="533400">
                <a:moveTo>
                  <a:pt x="76200" y="0"/>
                </a:moveTo>
                <a:lnTo>
                  <a:pt x="2305050" y="0"/>
                </a:lnTo>
                <a:cubicBezTo>
                  <a:pt x="2347134" y="0"/>
                  <a:pt x="2381250" y="34116"/>
                  <a:pt x="2381250" y="76200"/>
                </a:cubicBezTo>
                <a:lnTo>
                  <a:pt x="2381250" y="457200"/>
                </a:lnTo>
                <a:cubicBezTo>
                  <a:pt x="2381250" y="499284"/>
                  <a:pt x="2347134" y="533400"/>
                  <a:pt x="2305050" y="533400"/>
                </a:cubicBezTo>
                <a:lnTo>
                  <a:pt x="76200" y="533400"/>
                </a:lnTo>
                <a:cubicBezTo>
                  <a:pt x="34116" y="533400"/>
                  <a:pt x="0" y="499284"/>
                  <a:pt x="0" y="457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547866" y="461391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8871E"/>
                </a:solidFill>
                <a:latin typeface="Microsoft YaHei"/>
                <a:ea typeface="Microsoft YaHei"/>
                <a:cs typeface="Microsoft YaHei"/>
              </a:rPr>
              <a:t>供电异常告警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07540" y="4817745"/>
            <a:ext cx="10152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A6A3A"/>
                </a:solidFill>
                <a:latin typeface="Microsoft YaHei"/>
                <a:ea typeface="Microsoft YaHei"/>
                <a:cs typeface="Microsoft YaHei"/>
              </a:rPr>
              <a:t>低电量/断电提示</a:t>
            </a:r>
          </a:p>
        </p:txBody>
      </p:sp>
      <p:sp>
        <p:nvSpPr>
          <p:cNvPr id="34" name="Freeform 34"/>
          <p:cNvSpPr/>
          <p:nvPr/>
        </p:nvSpPr>
        <p:spPr>
          <a:xfrm>
            <a:off x="8458200" y="4438650"/>
            <a:ext cx="2476500" cy="533400"/>
          </a:xfrm>
          <a:custGeom>
            <a:avLst/>
            <a:gdLst/>
            <a:ahLst/>
            <a:cxnLst/>
            <a:rect l="l" t="t" r="r" b="b"/>
            <a:pathLst>
              <a:path w="2476500" h="533400">
                <a:moveTo>
                  <a:pt x="76200" y="0"/>
                </a:moveTo>
                <a:lnTo>
                  <a:pt x="2400300" y="0"/>
                </a:lnTo>
                <a:cubicBezTo>
                  <a:pt x="2442384" y="0"/>
                  <a:pt x="2476500" y="34116"/>
                  <a:pt x="2476500" y="76200"/>
                </a:cubicBezTo>
                <a:lnTo>
                  <a:pt x="2476500" y="457200"/>
                </a:lnTo>
                <a:cubicBezTo>
                  <a:pt x="2476500" y="499284"/>
                  <a:pt x="2442384" y="533400"/>
                  <a:pt x="2400300" y="533400"/>
                </a:cubicBezTo>
                <a:lnTo>
                  <a:pt x="76200" y="533400"/>
                </a:lnTo>
                <a:cubicBezTo>
                  <a:pt x="34116" y="533400"/>
                  <a:pt x="0" y="499284"/>
                  <a:pt x="0" y="457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129141" y="461391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8871E"/>
                </a:solidFill>
                <a:latin typeface="Microsoft YaHei"/>
                <a:ea typeface="Microsoft YaHei"/>
                <a:cs typeface="Microsoft YaHei"/>
              </a:rPr>
              <a:t>分级推送策略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093518" y="4817745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A6A3A"/>
                </a:solidFill>
                <a:latin typeface="Microsoft YaHei"/>
                <a:ea typeface="Microsoft YaHei"/>
                <a:cs typeface="Microsoft YaHei"/>
              </a:rPr>
              <a:t>不同级别不同联系人</a:t>
            </a:r>
          </a:p>
        </p:txBody>
      </p:sp>
      <p:sp>
        <p:nvSpPr>
          <p:cNvPr id="37" name="Freeform 37"/>
          <p:cNvSpPr/>
          <p:nvPr/>
        </p:nvSpPr>
        <p:spPr>
          <a:xfrm>
            <a:off x="666750" y="5334000"/>
            <a:ext cx="10744200" cy="857250"/>
          </a:xfrm>
          <a:custGeom>
            <a:avLst/>
            <a:gdLst/>
            <a:ahLst/>
            <a:cxnLst/>
            <a:rect l="l" t="t" r="r" b="b"/>
            <a:pathLst>
              <a:path w="10744200" h="857250">
                <a:moveTo>
                  <a:pt x="95250" y="0"/>
                </a:moveTo>
                <a:lnTo>
                  <a:pt x="10648950" y="0"/>
                </a:lnTo>
                <a:cubicBezTo>
                  <a:pt x="10701555" y="0"/>
                  <a:pt x="10744200" y="42645"/>
                  <a:pt x="10744200" y="95250"/>
                </a:cubicBezTo>
                <a:lnTo>
                  <a:pt x="10744200" y="762000"/>
                </a:lnTo>
                <a:cubicBezTo>
                  <a:pt x="10744200" y="814605"/>
                  <a:pt x="10701555" y="857250"/>
                  <a:pt x="10648950" y="857250"/>
                </a:cubicBezTo>
                <a:lnTo>
                  <a:pt x="95250" y="857250"/>
                </a:lnTo>
                <a:cubicBezTo>
                  <a:pt x="42645" y="857250"/>
                  <a:pt x="0" y="814605"/>
                  <a:pt x="0" y="76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02E5D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4375094" y="5572125"/>
            <a:ext cx="332751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数据驱动 · 告警闭环 · 多端联动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185285" y="5887402"/>
            <a:ext cx="37071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C4E3"/>
                </a:solidFill>
                <a:latin typeface="Microsoft YaHei"/>
                <a:ea typeface="Microsoft YaHei"/>
                <a:cs typeface="Microsoft YaHei"/>
              </a:rPr>
              <a:t>异常温度第一时间发现、第一时间通知、第一时间处置</a:t>
            </a:r>
          </a:p>
        </p:txBody>
      </p:sp>
      <p:sp>
        <p:nvSpPr>
          <p:cNvPr id="40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096625" y="6524625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fld id="{8B3F1C2A-4D6E-4A11-9C3B-0F1E2D3C4B5A}" type="slidenum">
              <a:rPr lang="zh-CN" sz="1050" dirty="0">
                <a:solidFill>
                  <a:srgbClr val="666666"/>
                </a:solidFill>
                <a:latin typeface="Microsoft YaHei"/>
                <a:ea typeface="微软雅黑"/>
              </a:rPr>
              <a:t>1</a:t>
            </a:fld>
            <a:endParaRPr lang="zh-CN" sz="10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40342" y="1238250"/>
            <a:ext cx="2911316" cy="304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0" b="1" dirty="0">
                <a:solidFill>
                  <a:srgbClr val="FFFFFF">
                    <a:alpha val="12000"/>
                  </a:srgbClr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722626" y="3577590"/>
            <a:ext cx="6746748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成本方案与市场分析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95738" y="4524375"/>
            <a:ext cx="42005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A0C4E3"/>
                </a:solidFill>
                <a:latin typeface="Microsoft YaHei"/>
                <a:ea typeface="Microsoft YaHei"/>
                <a:cs typeface="Microsoft YaHei"/>
              </a:rPr>
              <a:t>硬件成本核算、定价套餐与竞品差异化定位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2460" y="39433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竞品与现有方案分析</a:t>
            </a:r>
          </a:p>
        </p:txBody>
      </p:sp>
      <p:sp>
        <p:nvSpPr>
          <p:cNvPr id="3" name="Rectangle 3"/>
          <p:cNvSpPr/>
          <p:nvPr/>
        </p:nvSpPr>
        <p:spPr>
          <a:xfrm>
            <a:off x="666750" y="857250"/>
            <a:ext cx="1143000" cy="57150"/>
          </a:xfrm>
          <a:prstGeom prst="rect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2462" y="1021556"/>
            <a:ext cx="29860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三类现有方案均不匹配冬泳极寒场景需求</a:t>
            </a:r>
          </a:p>
        </p:txBody>
      </p:sp>
      <p:sp>
        <p:nvSpPr>
          <p:cNvPr id="5" name="Freeform 5"/>
          <p:cNvSpPr/>
          <p:nvPr/>
        </p:nvSpPr>
        <p:spPr>
          <a:xfrm>
            <a:off x="666750" y="1381125"/>
            <a:ext cx="10744200" cy="438150"/>
          </a:xfrm>
          <a:custGeom>
            <a:avLst/>
            <a:gdLst/>
            <a:ahLst/>
            <a:cxnLst/>
            <a:rect l="l" t="t" r="r" b="b"/>
            <a:pathLst>
              <a:path w="10744200" h="438150">
                <a:moveTo>
                  <a:pt x="76200" y="0"/>
                </a:moveTo>
                <a:lnTo>
                  <a:pt x="10668000" y="0"/>
                </a:lnTo>
                <a:cubicBezTo>
                  <a:pt x="10710084" y="0"/>
                  <a:pt x="10744200" y="34116"/>
                  <a:pt x="10744200" y="76200"/>
                </a:cubicBezTo>
                <a:lnTo>
                  <a:pt x="10744200" y="361950"/>
                </a:lnTo>
                <a:cubicBezTo>
                  <a:pt x="10744200" y="404034"/>
                  <a:pt x="10710084" y="438150"/>
                  <a:pt x="10668000" y="438150"/>
                </a:cubicBezTo>
                <a:lnTo>
                  <a:pt x="76200" y="438150"/>
                </a:lnTo>
                <a:cubicBezTo>
                  <a:pt x="34116" y="438150"/>
                  <a:pt x="0" y="404034"/>
                  <a:pt x="0" y="3619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2E5D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42010" y="152781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类型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13760" y="1527810"/>
            <a:ext cx="97819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代表 / 价格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52260" y="152781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不足</a:t>
            </a:r>
          </a:p>
        </p:txBody>
      </p:sp>
      <p:sp>
        <p:nvSpPr>
          <p:cNvPr id="9" name="Rectangle 9"/>
          <p:cNvSpPr/>
          <p:nvPr/>
        </p:nvSpPr>
        <p:spPr>
          <a:xfrm>
            <a:off x="666750" y="1895475"/>
            <a:ext cx="10744200" cy="81915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42010" y="21945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工业浮标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15665" y="2144078"/>
            <a:ext cx="16368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深圳聚亿博约 2.3万/套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16618" y="2380774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功能强但规格复杂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54165" y="2144078"/>
            <a:ext cx="37071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价格高昂、配置复杂，不适合中小型冬泳基地轻量需求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4165" y="2372678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重资产、非冬泳场景专属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66750" y="2790825"/>
            <a:ext cx="10744200" cy="8191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42010" y="30899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泳池系统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15665" y="3039428"/>
            <a:ext cx="15908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戴勒思 AI-Pool / OSEN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416618" y="327612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数万元起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54165" y="3039428"/>
            <a:ext cx="2480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造价数十万，面向商业泳池整体方案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54165" y="3268028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不聚焦冬泳极寒户外场景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66750" y="3686175"/>
            <a:ext cx="10744200" cy="81915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42010" y="39852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通用监测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15665" y="3934778"/>
            <a:ext cx="10541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淘宝 4G 温度计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416618" y="4171474"/>
            <a:ext cx="6584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¥129~1200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54165" y="3934778"/>
            <a:ext cx="32470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功能单一，缺乏冬泳专属的极端环境与告警能力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4165" y="4163378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无平台、无多点、无多端联动</a:t>
            </a:r>
          </a:p>
        </p:txBody>
      </p:sp>
      <p:sp>
        <p:nvSpPr>
          <p:cNvPr id="27" name="Freeform 27"/>
          <p:cNvSpPr/>
          <p:nvPr/>
        </p:nvSpPr>
        <p:spPr>
          <a:xfrm>
            <a:off x="666750" y="4667250"/>
            <a:ext cx="10744200" cy="914400"/>
          </a:xfrm>
          <a:custGeom>
            <a:avLst/>
            <a:gdLst/>
            <a:ahLst/>
            <a:cxnLst/>
            <a:rect l="l" t="t" r="r" b="b"/>
            <a:pathLst>
              <a:path w="10744200" h="914400">
                <a:moveTo>
                  <a:pt x="95250" y="0"/>
                </a:moveTo>
                <a:lnTo>
                  <a:pt x="10648950" y="0"/>
                </a:lnTo>
                <a:cubicBezTo>
                  <a:pt x="10701555" y="0"/>
                  <a:pt x="10744200" y="42645"/>
                  <a:pt x="10744200" y="95250"/>
                </a:cubicBezTo>
                <a:lnTo>
                  <a:pt x="10744200" y="819150"/>
                </a:lnTo>
                <a:cubicBezTo>
                  <a:pt x="10744200" y="871755"/>
                  <a:pt x="10701555" y="914400"/>
                  <a:pt x="10648950" y="914400"/>
                </a:cubicBezTo>
                <a:lnTo>
                  <a:pt x="95250" y="914400"/>
                </a:lnTo>
                <a:cubicBezTo>
                  <a:pt x="42645" y="914400"/>
                  <a:pt x="0" y="871755"/>
                  <a:pt x="0" y="8191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39152" y="4837271"/>
            <a:ext cx="593643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市场空白：轻量、场景专属、可复制的冬泳水温监测方案缺失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3915" y="5163502"/>
            <a:ext cx="52329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现有产品要么太贵太重（工业/泳池）—— 要么太简单不成系统（通用监测），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43915" y="5373052"/>
            <a:ext cx="38758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恰好为“轻量化冬泳水温物联网方案”留出明确的市场机会</a:t>
            </a:r>
          </a:p>
        </p:txBody>
      </p:sp>
      <p:sp>
        <p:nvSpPr>
          <p:cNvPr id="31" name="Freeform 31"/>
          <p:cNvSpPr/>
          <p:nvPr/>
        </p:nvSpPr>
        <p:spPr>
          <a:xfrm>
            <a:off x="666750" y="5715000"/>
            <a:ext cx="10744200" cy="762000"/>
          </a:xfrm>
          <a:custGeom>
            <a:avLst/>
            <a:gdLst/>
            <a:ahLst/>
            <a:cxnLst/>
            <a:rect l="l" t="t" r="r" b="b"/>
            <a:pathLst>
              <a:path w="10744200" h="762000">
                <a:moveTo>
                  <a:pt x="95250" y="0"/>
                </a:moveTo>
                <a:lnTo>
                  <a:pt x="10648950" y="0"/>
                </a:lnTo>
                <a:cubicBezTo>
                  <a:pt x="10701555" y="0"/>
                  <a:pt x="10744200" y="42645"/>
                  <a:pt x="10744200" y="95250"/>
                </a:cubicBezTo>
                <a:lnTo>
                  <a:pt x="10744200" y="666750"/>
                </a:lnTo>
                <a:cubicBezTo>
                  <a:pt x="10744200" y="719355"/>
                  <a:pt x="10701555" y="762000"/>
                  <a:pt x="10648950" y="762000"/>
                </a:cubicBezTo>
                <a:lnTo>
                  <a:pt x="95250" y="762000"/>
                </a:lnTo>
                <a:cubicBezTo>
                  <a:pt x="42645" y="762000"/>
                  <a:pt x="0" y="719355"/>
                  <a:pt x="0" y="666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02E5D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3928353" y="5923121"/>
            <a:ext cx="4220993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差异化机会明确 · 精准切入未被满足的需求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559760" y="6219349"/>
            <a:ext cx="29581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0C4E3"/>
                </a:solidFill>
                <a:latin typeface="Microsoft YaHei"/>
                <a:ea typeface="Microsoft YaHei"/>
                <a:cs typeface="Microsoft YaHei"/>
              </a:rPr>
              <a:t>轻量化 · 低成本 · 多点部署 · 强告警 · 可复制</a:t>
            </a:r>
          </a:p>
        </p:txBody>
      </p:sp>
      <p:sp>
        <p:nvSpPr>
          <p:cNvPr id="3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096625" y="6524625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fld id="{8B3F1C2A-4D6E-4A11-9C3B-0F1E2D3C4B5A}" type="slidenum">
              <a:rPr lang="zh-CN" sz="1050" dirty="0">
                <a:solidFill>
                  <a:srgbClr val="666666"/>
                </a:solidFill>
                <a:latin typeface="Microsoft YaHei"/>
                <a:ea typeface="微软雅黑"/>
              </a:rPr>
              <a:t>1</a:t>
            </a:fld>
            <a:endParaRPr lang="zh-CN" sz="10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2460" y="394335"/>
            <a:ext cx="468525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硬件成本核算 · 百元以内</a:t>
            </a:r>
          </a:p>
        </p:txBody>
      </p:sp>
      <p:sp>
        <p:nvSpPr>
          <p:cNvPr id="3" name="Rectangle 3"/>
          <p:cNvSpPr/>
          <p:nvPr/>
        </p:nvSpPr>
        <p:spPr>
          <a:xfrm>
            <a:off x="666750" y="857250"/>
            <a:ext cx="1143000" cy="57150"/>
          </a:xfrm>
          <a:prstGeom prst="rect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2462" y="1021556"/>
            <a:ext cx="50234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4G Cat.1 一体模组方案：硬件 BOM 严控 ¥100 内，通信年费单独核算</a:t>
            </a:r>
          </a:p>
        </p:txBody>
      </p:sp>
      <p:sp>
        <p:nvSpPr>
          <p:cNvPr id="5" name="Freeform 5"/>
          <p:cNvSpPr/>
          <p:nvPr/>
        </p:nvSpPr>
        <p:spPr>
          <a:xfrm>
            <a:off x="666750" y="1381125"/>
            <a:ext cx="6096000" cy="2952750"/>
          </a:xfrm>
          <a:custGeom>
            <a:avLst/>
            <a:gdLst/>
            <a:ahLst/>
            <a:cxnLst/>
            <a:rect l="l" t="t" r="r" b="b"/>
            <a:pathLst>
              <a:path w="6096000" h="2952750">
                <a:moveTo>
                  <a:pt x="95250" y="0"/>
                </a:moveTo>
                <a:lnTo>
                  <a:pt x="6000750" y="0"/>
                </a:lnTo>
                <a:cubicBezTo>
                  <a:pt x="6053355" y="0"/>
                  <a:pt x="6096000" y="42645"/>
                  <a:pt x="6096000" y="95250"/>
                </a:cubicBezTo>
                <a:lnTo>
                  <a:pt x="6096000" y="2857500"/>
                </a:lnTo>
                <a:cubicBezTo>
                  <a:pt x="6096000" y="2910105"/>
                  <a:pt x="6053355" y="2952750"/>
                  <a:pt x="6000750" y="2952750"/>
                </a:cubicBezTo>
                <a:lnTo>
                  <a:pt x="95250" y="2952750"/>
                </a:lnTo>
                <a:cubicBezTo>
                  <a:pt x="42645" y="2952750"/>
                  <a:pt x="0" y="2910105"/>
                  <a:pt x="0" y="2857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666750" y="1381125"/>
            <a:ext cx="6096000" cy="419100"/>
          </a:xfrm>
          <a:custGeom>
            <a:avLst/>
            <a:gdLst/>
            <a:ahLst/>
            <a:cxnLst/>
            <a:rect l="l" t="t" r="r" b="b"/>
            <a:pathLst>
              <a:path w="6096000" h="419100">
                <a:moveTo>
                  <a:pt x="95250" y="0"/>
                </a:moveTo>
                <a:lnTo>
                  <a:pt x="6000750" y="0"/>
                </a:lnTo>
                <a:cubicBezTo>
                  <a:pt x="6053355" y="0"/>
                  <a:pt x="6096000" y="42645"/>
                  <a:pt x="6096000" y="95250"/>
                </a:cubicBezTo>
                <a:lnTo>
                  <a:pt x="6096000" y="323850"/>
                </a:lnTo>
                <a:cubicBezTo>
                  <a:pt x="6096000" y="376455"/>
                  <a:pt x="6053355" y="419100"/>
                  <a:pt x="6000750" y="419100"/>
                </a:cubicBezTo>
                <a:lnTo>
                  <a:pt x="95250" y="419100"/>
                </a:lnTo>
                <a:cubicBezTo>
                  <a:pt x="42645" y="419100"/>
                  <a:pt x="0" y="376455"/>
                  <a:pt x="0" y="3238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078D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40105" y="1511618"/>
            <a:ext cx="25910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核心硬件 BOM（单价参考）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3915" y="192500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996F00"/>
                </a:solidFill>
                <a:latin typeface="Microsoft YaHei"/>
                <a:ea typeface="Microsoft YaHei"/>
                <a:cs typeface="Microsoft YaHei"/>
              </a:rPr>
              <a:t>器件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39415" y="19250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996F00"/>
                </a:solidFill>
                <a:latin typeface="Microsoft YaHei"/>
                <a:ea typeface="Microsoft YaHei"/>
                <a:cs typeface="Microsoft YaHei"/>
              </a:rPr>
              <a:t>关键规格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13942" y="1925002"/>
            <a:ext cx="6143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996F00"/>
                </a:solidFill>
                <a:latin typeface="Microsoft YaHei"/>
                <a:ea typeface="Microsoft YaHei"/>
                <a:cs typeface="Microsoft YaHei"/>
              </a:rPr>
              <a:t>单价(¥)</a:t>
            </a:r>
          </a:p>
        </p:txBody>
      </p:sp>
      <p:sp>
        <p:nvSpPr>
          <p:cNvPr id="11" name="Line 11"/>
          <p:cNvSpPr/>
          <p:nvPr/>
        </p:nvSpPr>
        <p:spPr>
          <a:xfrm>
            <a:off x="857250" y="2133600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9525">
            <a:solidFill>
              <a:srgbClr val="B8D4F2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843915" y="2267902"/>
            <a:ext cx="976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合宙 Air780E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40368" y="2275999"/>
            <a:ext cx="18545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4G Cat.1 模块，集成主控+4G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35982" y="2267902"/>
            <a:ext cx="292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0078D7"/>
                </a:solidFill>
                <a:latin typeface="Arial"/>
                <a:ea typeface="Microsoft YaHei"/>
                <a:cs typeface="Arial"/>
              </a:rPr>
              <a:t>~22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3915" y="2534602"/>
            <a:ext cx="976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DS18B20 探头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40368" y="2542699"/>
            <a:ext cx="1242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防水，5米线置水下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76237" y="2534602"/>
            <a:ext cx="2520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0078D7"/>
                </a:solidFill>
                <a:latin typeface="Arial"/>
                <a:ea typeface="Microsoft YaHei"/>
                <a:cs typeface="Arial"/>
              </a:rPr>
              <a:t>~10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3915" y="2801302"/>
            <a:ext cx="9605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18650 锂电池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940368" y="2809399"/>
            <a:ext cx="13134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2600mAh，岸侧供电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24543" y="280130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0078D7"/>
                </a:solidFill>
                <a:latin typeface="Arial"/>
                <a:ea typeface="Microsoft YaHei"/>
                <a:cs typeface="Arial"/>
              </a:rPr>
              <a:t>~6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3915" y="3068002"/>
            <a:ext cx="11135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外壳/PCB/接线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940368" y="30760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防水装配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76237" y="3068002"/>
            <a:ext cx="2520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0078D7"/>
                </a:solidFill>
                <a:latin typeface="Arial"/>
                <a:ea typeface="Microsoft YaHei"/>
                <a:cs typeface="Arial"/>
              </a:rPr>
              <a:t>~12</a:t>
            </a:r>
          </a:p>
        </p:txBody>
      </p:sp>
      <p:sp>
        <p:nvSpPr>
          <p:cNvPr id="24" name="Line 24"/>
          <p:cNvSpPr/>
          <p:nvPr/>
        </p:nvSpPr>
        <p:spPr>
          <a:xfrm>
            <a:off x="857250" y="3390900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9525">
            <a:solidFill>
              <a:srgbClr val="B8D4F2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41058" y="3596164"/>
            <a:ext cx="133262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硬件 BOM 合计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718364" y="3523298"/>
            <a:ext cx="102140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950" b="1" dirty="0">
                <a:solidFill>
                  <a:srgbClr val="E8871E"/>
                </a:solidFill>
                <a:latin typeface="Arial"/>
                <a:ea typeface="Microsoft YaHei"/>
                <a:cs typeface="Arial"/>
              </a:rPr>
              <a:t>＜ ¥100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4868" y="3933349"/>
            <a:ext cx="41614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Air780E 集成 MCU+4G，省去独立主控成本，BOM 轻松压进百元内</a:t>
            </a:r>
          </a:p>
        </p:txBody>
      </p:sp>
      <p:sp>
        <p:nvSpPr>
          <p:cNvPr id="28" name="Freeform 28"/>
          <p:cNvSpPr/>
          <p:nvPr/>
        </p:nvSpPr>
        <p:spPr>
          <a:xfrm>
            <a:off x="6953250" y="1381125"/>
            <a:ext cx="4572000" cy="2952750"/>
          </a:xfrm>
          <a:custGeom>
            <a:avLst/>
            <a:gdLst/>
            <a:ahLst/>
            <a:cxnLst/>
            <a:rect l="l" t="t" r="r" b="b"/>
            <a:pathLst>
              <a:path w="4572000" h="2952750">
                <a:moveTo>
                  <a:pt x="95250" y="0"/>
                </a:moveTo>
                <a:lnTo>
                  <a:pt x="4476750" y="0"/>
                </a:lnTo>
                <a:cubicBezTo>
                  <a:pt x="4529355" y="0"/>
                  <a:pt x="4572000" y="42645"/>
                  <a:pt x="4572000" y="95250"/>
                </a:cubicBezTo>
                <a:lnTo>
                  <a:pt x="4572000" y="2857500"/>
                </a:lnTo>
                <a:cubicBezTo>
                  <a:pt x="4572000" y="2910105"/>
                  <a:pt x="4529355" y="2952750"/>
                  <a:pt x="4476750" y="2952750"/>
                </a:cubicBezTo>
                <a:lnTo>
                  <a:pt x="95250" y="2952750"/>
                </a:lnTo>
                <a:cubicBezTo>
                  <a:pt x="42645" y="2952750"/>
                  <a:pt x="0" y="2910105"/>
                  <a:pt x="0" y="2857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7F8FA"/>
          </a:solidFill>
          <a:ln>
            <a:noFill/>
          </a:ln>
        </p:spPr>
      </p:sp>
      <p:sp>
        <p:nvSpPr>
          <p:cNvPr id="29" name="Freeform 29"/>
          <p:cNvSpPr/>
          <p:nvPr/>
        </p:nvSpPr>
        <p:spPr>
          <a:xfrm>
            <a:off x="6953250" y="1381125"/>
            <a:ext cx="4572000" cy="419100"/>
          </a:xfrm>
          <a:custGeom>
            <a:avLst/>
            <a:gdLst/>
            <a:ahLst/>
            <a:cxnLst/>
            <a:rect l="l" t="t" r="r" b="b"/>
            <a:pathLst>
              <a:path w="4572000" h="419100">
                <a:moveTo>
                  <a:pt x="95250" y="0"/>
                </a:moveTo>
                <a:lnTo>
                  <a:pt x="4476750" y="0"/>
                </a:lnTo>
                <a:cubicBezTo>
                  <a:pt x="4529355" y="0"/>
                  <a:pt x="4572000" y="42645"/>
                  <a:pt x="4572000" y="95250"/>
                </a:cubicBezTo>
                <a:lnTo>
                  <a:pt x="4572000" y="323850"/>
                </a:lnTo>
                <a:cubicBezTo>
                  <a:pt x="4572000" y="376455"/>
                  <a:pt x="4529355" y="419100"/>
                  <a:pt x="4476750" y="419100"/>
                </a:cubicBezTo>
                <a:lnTo>
                  <a:pt x="95250" y="419100"/>
                </a:lnTo>
                <a:cubicBezTo>
                  <a:pt x="42645" y="419100"/>
                  <a:pt x="0" y="376455"/>
                  <a:pt x="0" y="3238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4CA1E7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126605" y="1511618"/>
            <a:ext cx="21045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通信年费（单独核算）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129462" y="2012156"/>
            <a:ext cx="16634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· 物联网卡（4G）年费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105650" y="2133600"/>
            <a:ext cx="159439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E8871E"/>
                </a:solidFill>
                <a:latin typeface="Arial"/>
                <a:ea typeface="Microsoft YaHei"/>
                <a:cs typeface="Arial"/>
              </a:rPr>
              <a:t>¥30~50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130415" y="259175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/ 年 · 按年续订</a:t>
            </a:r>
          </a:p>
        </p:txBody>
      </p:sp>
      <p:sp>
        <p:nvSpPr>
          <p:cNvPr id="34" name="Line 34"/>
          <p:cNvSpPr/>
          <p:nvPr/>
        </p:nvSpPr>
        <p:spPr>
          <a:xfrm>
            <a:off x="7143750" y="290512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9525">
            <a:solidFill>
              <a:srgbClr val="DDDDDD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130415" y="3087052"/>
            <a:ext cx="24983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8871E"/>
                </a:solidFill>
                <a:latin typeface="Microsoft YaHei"/>
                <a:ea typeface="Microsoft YaHei"/>
                <a:cs typeface="Microsoft YaHei"/>
              </a:rPr>
              <a:t>重要：通信年费不计入硬件 BOM，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130415" y="3315652"/>
            <a:ext cx="23695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8871E"/>
                </a:solidFill>
                <a:latin typeface="Microsoft YaHei"/>
                <a:ea typeface="Microsoft YaHei"/>
                <a:cs typeface="Microsoft YaHei"/>
              </a:rPr>
              <a:t>作为年度运营/订阅成本单独列支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131368" y="3628549"/>
            <a:ext cx="21607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小流量套餐即可满足定期上报需求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131368" y="3895249"/>
            <a:ext cx="27944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硬件 ¥100 内 + 年费 ¥30~50，TCO 依旧极低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47700" y="4600575"/>
            <a:ext cx="18783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电池供电续航分析</a:t>
            </a:r>
          </a:p>
        </p:txBody>
      </p:sp>
      <p:sp>
        <p:nvSpPr>
          <p:cNvPr id="40" name="Freeform 40"/>
          <p:cNvSpPr/>
          <p:nvPr/>
        </p:nvSpPr>
        <p:spPr>
          <a:xfrm>
            <a:off x="666750" y="4953000"/>
            <a:ext cx="5257800" cy="1428750"/>
          </a:xfrm>
          <a:custGeom>
            <a:avLst/>
            <a:gdLst/>
            <a:ahLst/>
            <a:cxnLst/>
            <a:rect l="l" t="t" r="r" b="b"/>
            <a:pathLst>
              <a:path w="5257800" h="1428750">
                <a:moveTo>
                  <a:pt x="95250" y="0"/>
                </a:moveTo>
                <a:lnTo>
                  <a:pt x="5162550" y="0"/>
                </a:lnTo>
                <a:cubicBezTo>
                  <a:pt x="5215155" y="0"/>
                  <a:pt x="5257800" y="42645"/>
                  <a:pt x="5257800" y="95250"/>
                </a:cubicBezTo>
                <a:lnTo>
                  <a:pt x="5257800" y="1333500"/>
                </a:lnTo>
                <a:cubicBezTo>
                  <a:pt x="5257800" y="1386105"/>
                  <a:pt x="5215155" y="1428750"/>
                  <a:pt x="516255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60108" y="5101114"/>
            <a:ext cx="307279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方案A · 18650 锂电池（2600mAh）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62965" y="5411152"/>
            <a:ext cx="20739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单节 3.7V，可充电反复使用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62965" y="5658802"/>
            <a:ext cx="27870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定期上报（每小时 1 次）续航约 3~4 周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62965" y="5906452"/>
            <a:ext cx="23039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单位周期成本低，适合长期自持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63918" y="6143149"/>
            <a:ext cx="29510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A6A3A"/>
                </a:solidFill>
                <a:latin typeface="Microsoft YaHei"/>
                <a:ea typeface="Microsoft YaHei"/>
                <a:cs typeface="Microsoft YaHei"/>
              </a:rPr>
              <a:t>注：极寒下锂电容量衰减，建议保温/定期补电</a:t>
            </a:r>
          </a:p>
        </p:txBody>
      </p:sp>
      <p:sp>
        <p:nvSpPr>
          <p:cNvPr id="46" name="Freeform 46"/>
          <p:cNvSpPr/>
          <p:nvPr/>
        </p:nvSpPr>
        <p:spPr>
          <a:xfrm>
            <a:off x="6096000" y="4953000"/>
            <a:ext cx="5429250" cy="1428750"/>
          </a:xfrm>
          <a:custGeom>
            <a:avLst/>
            <a:gdLst/>
            <a:ahLst/>
            <a:cxnLst/>
            <a:rect l="l" t="t" r="r" b="b"/>
            <a:pathLst>
              <a:path w="5429250" h="1428750">
                <a:moveTo>
                  <a:pt x="95250" y="0"/>
                </a:moveTo>
                <a:lnTo>
                  <a:pt x="5334000" y="0"/>
                </a:lnTo>
                <a:cubicBezTo>
                  <a:pt x="5386605" y="0"/>
                  <a:pt x="5429250" y="42645"/>
                  <a:pt x="5429250" y="95250"/>
                </a:cubicBezTo>
                <a:lnTo>
                  <a:pt x="5429250" y="1333500"/>
                </a:lnTo>
                <a:cubicBezTo>
                  <a:pt x="5429250" y="1386105"/>
                  <a:pt x="5386605" y="1428750"/>
                  <a:pt x="5334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6289358" y="5101114"/>
            <a:ext cx="225158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4CA1E7"/>
                </a:solidFill>
                <a:latin typeface="Microsoft YaHei"/>
                <a:ea typeface="Microsoft YaHei"/>
                <a:cs typeface="Microsoft YaHei"/>
              </a:rPr>
              <a:t>方案B · 5号（AA）干电池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292215" y="541115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多节串并联 + 升压供电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292215" y="5658802"/>
            <a:ext cx="23039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需定期更换，更换频率相对较高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292215" y="5906452"/>
            <a:ext cx="24573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使用成本与更换频次需按基地评估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293168" y="6143149"/>
            <a:ext cx="24170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A6A3A"/>
                </a:solidFill>
                <a:latin typeface="Microsoft YaHei"/>
                <a:ea typeface="Microsoft YaHei"/>
                <a:cs typeface="Microsoft YaHei"/>
              </a:rPr>
              <a:t>注：优先推荐 18650，兼顾续航与成本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66750" y="6534150"/>
            <a:ext cx="10858500" cy="1905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096625" y="6524625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fld id="{8B3F1C2A-4D6E-4A11-9C3B-0F1E2D3C4B5A}" type="slidenum">
              <a:rPr lang="zh-CN" sz="1050" dirty="0">
                <a:solidFill>
                  <a:srgbClr val="666666"/>
                </a:solidFill>
                <a:latin typeface="Microsoft YaHei"/>
                <a:ea typeface="微软雅黑"/>
              </a:rPr>
              <a:t>1</a:t>
            </a:fld>
            <a:endParaRPr lang="zh-CN" sz="10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2460" y="394335"/>
            <a:ext cx="33809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定价方案与毛利率</a:t>
            </a:r>
          </a:p>
        </p:txBody>
      </p:sp>
      <p:sp>
        <p:nvSpPr>
          <p:cNvPr id="3" name="Rectangle 3"/>
          <p:cNvSpPr/>
          <p:nvPr/>
        </p:nvSpPr>
        <p:spPr>
          <a:xfrm>
            <a:off x="666750" y="857250"/>
            <a:ext cx="1143000" cy="57150"/>
          </a:xfrm>
          <a:prstGeom prst="rect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2462" y="1021556"/>
            <a:ext cx="341328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四级套餐覆盖不同预算，标准版毛利率 75~86%</a:t>
            </a:r>
          </a:p>
        </p:txBody>
      </p:sp>
      <p:sp>
        <p:nvSpPr>
          <p:cNvPr id="5" name="Freeform 5"/>
          <p:cNvSpPr/>
          <p:nvPr/>
        </p:nvSpPr>
        <p:spPr>
          <a:xfrm>
            <a:off x="666750" y="1381125"/>
            <a:ext cx="2571750" cy="2857500"/>
          </a:xfrm>
          <a:custGeom>
            <a:avLst/>
            <a:gdLst/>
            <a:ahLst/>
            <a:cxnLst/>
            <a:rect l="l" t="t" r="r" b="b"/>
            <a:pathLst>
              <a:path w="2571750" h="285750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42645"/>
                  <a:pt x="2571750" y="95250"/>
                </a:cubicBezTo>
                <a:lnTo>
                  <a:pt x="2571750" y="2762250"/>
                </a:lnTo>
                <a:cubicBezTo>
                  <a:pt x="2571750" y="2814855"/>
                  <a:pt x="2529105" y="2857500"/>
                  <a:pt x="2476500" y="2857500"/>
                </a:cubicBezTo>
                <a:lnTo>
                  <a:pt x="95250" y="2857500"/>
                </a:lnTo>
                <a:cubicBezTo>
                  <a:pt x="42645" y="2857500"/>
                  <a:pt x="0" y="2814855"/>
                  <a:pt x="0" y="2762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666750" y="1381125"/>
            <a:ext cx="2571750" cy="666750"/>
          </a:xfrm>
          <a:custGeom>
            <a:avLst/>
            <a:gdLst/>
            <a:ahLst/>
            <a:cxnLst/>
            <a:rect l="l" t="t" r="r" b="b"/>
            <a:pathLst>
              <a:path w="2571750" h="66675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42645"/>
                  <a:pt x="2571750" y="95250"/>
                </a:cubicBezTo>
                <a:lnTo>
                  <a:pt x="2571750" y="571500"/>
                </a:lnTo>
                <a:cubicBezTo>
                  <a:pt x="2571750" y="624105"/>
                  <a:pt x="2529105" y="666750"/>
                  <a:pt x="2476500" y="666750"/>
                </a:cubicBezTo>
                <a:lnTo>
                  <a:pt x="95250" y="666750"/>
                </a:lnTo>
                <a:cubicBezTo>
                  <a:pt x="42645" y="666750"/>
                  <a:pt x="0" y="624105"/>
                  <a:pt x="0" y="571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4CA1E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88532" y="157162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基础版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84246" y="185689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F1FB"/>
                </a:solidFill>
                <a:latin typeface="Microsoft YaHei"/>
                <a:ea typeface="Microsoft YaHei"/>
                <a:cs typeface="Microsoft YaHei"/>
              </a:rPr>
              <a:t>低成本入门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4955" y="2252662"/>
            <a:ext cx="157534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4CA1E7"/>
                </a:solidFill>
                <a:latin typeface="Arial"/>
                <a:ea typeface="Microsoft YaHei"/>
                <a:cs typeface="Arial"/>
              </a:rPr>
              <a:t>¥499~999</a:t>
            </a:r>
          </a:p>
        </p:txBody>
      </p:sp>
      <p:sp>
        <p:nvSpPr>
          <p:cNvPr id="10" name="Line 10"/>
          <p:cNvSpPr/>
          <p:nvPr/>
        </p:nvSpPr>
        <p:spPr>
          <a:xfrm>
            <a:off x="904875" y="266700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9525">
            <a:solidFill>
              <a:srgbClr val="B8D4F2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421725" y="2839402"/>
            <a:ext cx="10617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单点 DS18B20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14058" y="3106102"/>
            <a:ext cx="10771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基础实时监测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67410" y="3372802"/>
            <a:ext cx="7704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基础告警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90734" y="3639502"/>
            <a:ext cx="9237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小程序查看</a:t>
            </a:r>
          </a:p>
        </p:txBody>
      </p:sp>
      <p:sp>
        <p:nvSpPr>
          <p:cNvPr id="15" name="Freeform 15"/>
          <p:cNvSpPr/>
          <p:nvPr/>
        </p:nvSpPr>
        <p:spPr>
          <a:xfrm>
            <a:off x="3390900" y="1381125"/>
            <a:ext cx="2571750" cy="2857500"/>
          </a:xfrm>
          <a:custGeom>
            <a:avLst/>
            <a:gdLst/>
            <a:ahLst/>
            <a:cxnLst/>
            <a:rect l="l" t="t" r="r" b="b"/>
            <a:pathLst>
              <a:path w="2571750" h="285750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42645"/>
                  <a:pt x="2571750" y="95250"/>
                </a:cubicBezTo>
                <a:lnTo>
                  <a:pt x="2571750" y="2762250"/>
                </a:lnTo>
                <a:cubicBezTo>
                  <a:pt x="2571750" y="2814855"/>
                  <a:pt x="2529105" y="2857500"/>
                  <a:pt x="2476500" y="2857500"/>
                </a:cubicBezTo>
                <a:lnTo>
                  <a:pt x="95250" y="2857500"/>
                </a:lnTo>
                <a:cubicBezTo>
                  <a:pt x="42645" y="2857500"/>
                  <a:pt x="0" y="2814855"/>
                  <a:pt x="0" y="2762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FF5FD"/>
          </a:solidFill>
          <a:ln>
            <a:noFill/>
          </a:ln>
        </p:spPr>
      </p:sp>
      <p:sp>
        <p:nvSpPr>
          <p:cNvPr id="16" name="Freeform 16"/>
          <p:cNvSpPr/>
          <p:nvPr/>
        </p:nvSpPr>
        <p:spPr>
          <a:xfrm>
            <a:off x="3390900" y="1381125"/>
            <a:ext cx="2571750" cy="666750"/>
          </a:xfrm>
          <a:custGeom>
            <a:avLst/>
            <a:gdLst/>
            <a:ahLst/>
            <a:cxnLst/>
            <a:rect l="l" t="t" r="r" b="b"/>
            <a:pathLst>
              <a:path w="2571750" h="66675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42645"/>
                  <a:pt x="2571750" y="95250"/>
                </a:cubicBezTo>
                <a:lnTo>
                  <a:pt x="2571750" y="571500"/>
                </a:lnTo>
                <a:cubicBezTo>
                  <a:pt x="2571750" y="624105"/>
                  <a:pt x="2529105" y="666750"/>
                  <a:pt x="2476500" y="666750"/>
                </a:cubicBezTo>
                <a:lnTo>
                  <a:pt x="95250" y="666750"/>
                </a:lnTo>
                <a:cubicBezTo>
                  <a:pt x="42645" y="666750"/>
                  <a:pt x="0" y="624105"/>
                  <a:pt x="0" y="571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078D7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3984891" y="1571625"/>
            <a:ext cx="138376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标准版 ★推荐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08396" y="185689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FE4FA"/>
                </a:solidFill>
                <a:latin typeface="Microsoft YaHei"/>
                <a:ea typeface="Microsoft YaHei"/>
                <a:cs typeface="Microsoft YaHei"/>
              </a:rPr>
              <a:t>性价比之选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42462" y="2252662"/>
            <a:ext cx="186862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0078D7"/>
                </a:solidFill>
                <a:latin typeface="Arial"/>
                <a:ea typeface="Microsoft YaHei"/>
                <a:cs typeface="Arial"/>
              </a:rPr>
              <a:t>¥1499~2499</a:t>
            </a:r>
          </a:p>
        </p:txBody>
      </p:sp>
      <p:sp>
        <p:nvSpPr>
          <p:cNvPr id="20" name="Line 20"/>
          <p:cNvSpPr/>
          <p:nvPr/>
        </p:nvSpPr>
        <p:spPr>
          <a:xfrm>
            <a:off x="3629025" y="266700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9525">
            <a:solidFill>
              <a:srgbClr val="B8D4F2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4145875" y="2839402"/>
            <a:ext cx="10617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多点 DS18B20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138208" y="3106102"/>
            <a:ext cx="10771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远程告警推送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138208" y="3372802"/>
            <a:ext cx="10771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历史数据曲线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199549" y="3639502"/>
            <a:ext cx="9544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小程序+APP</a:t>
            </a:r>
          </a:p>
        </p:txBody>
      </p:sp>
      <p:sp>
        <p:nvSpPr>
          <p:cNvPr id="25" name="Freeform 25"/>
          <p:cNvSpPr/>
          <p:nvPr/>
        </p:nvSpPr>
        <p:spPr>
          <a:xfrm>
            <a:off x="6115050" y="1381125"/>
            <a:ext cx="2571750" cy="2857500"/>
          </a:xfrm>
          <a:custGeom>
            <a:avLst/>
            <a:gdLst/>
            <a:ahLst/>
            <a:cxnLst/>
            <a:rect l="l" t="t" r="r" b="b"/>
            <a:pathLst>
              <a:path w="2571750" h="285750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42645"/>
                  <a:pt x="2571750" y="95250"/>
                </a:cubicBezTo>
                <a:lnTo>
                  <a:pt x="2571750" y="2762250"/>
                </a:lnTo>
                <a:cubicBezTo>
                  <a:pt x="2571750" y="2814855"/>
                  <a:pt x="2529105" y="2857500"/>
                  <a:pt x="2476500" y="2857500"/>
                </a:cubicBezTo>
                <a:lnTo>
                  <a:pt x="95250" y="2857500"/>
                </a:lnTo>
                <a:cubicBezTo>
                  <a:pt x="42645" y="2857500"/>
                  <a:pt x="0" y="2814855"/>
                  <a:pt x="0" y="2762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26" name="Freeform 26"/>
          <p:cNvSpPr/>
          <p:nvPr/>
        </p:nvSpPr>
        <p:spPr>
          <a:xfrm>
            <a:off x="6115050" y="1381125"/>
            <a:ext cx="2571750" cy="666750"/>
          </a:xfrm>
          <a:custGeom>
            <a:avLst/>
            <a:gdLst/>
            <a:ahLst/>
            <a:cxnLst/>
            <a:rect l="l" t="t" r="r" b="b"/>
            <a:pathLst>
              <a:path w="2571750" h="66675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42645"/>
                  <a:pt x="2571750" y="95250"/>
                </a:cubicBezTo>
                <a:lnTo>
                  <a:pt x="2571750" y="571500"/>
                </a:lnTo>
                <a:cubicBezTo>
                  <a:pt x="2571750" y="624105"/>
                  <a:pt x="2529105" y="666750"/>
                  <a:pt x="2476500" y="666750"/>
                </a:cubicBezTo>
                <a:lnTo>
                  <a:pt x="95250" y="666750"/>
                </a:lnTo>
                <a:cubicBezTo>
                  <a:pt x="42645" y="666750"/>
                  <a:pt x="0" y="624105"/>
                  <a:pt x="0" y="571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4CA1E7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036832" y="157162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专业版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032546" y="185689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F1FB"/>
                </a:solidFill>
                <a:latin typeface="Microsoft YaHei"/>
                <a:ea typeface="Microsoft YaHei"/>
                <a:cs typeface="Microsoft YaHei"/>
              </a:rPr>
              <a:t>集团化管理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23481" y="2252662"/>
            <a:ext cx="1954887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4CA1E7"/>
                </a:solidFill>
                <a:latin typeface="Arial"/>
                <a:ea typeface="Microsoft YaHei"/>
                <a:cs typeface="Arial"/>
              </a:rPr>
              <a:t>¥2999~3999</a:t>
            </a:r>
          </a:p>
        </p:txBody>
      </p:sp>
      <p:sp>
        <p:nvSpPr>
          <p:cNvPr id="30" name="Line 30"/>
          <p:cNvSpPr/>
          <p:nvPr/>
        </p:nvSpPr>
        <p:spPr>
          <a:xfrm>
            <a:off x="6353175" y="266700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9525">
            <a:solidFill>
              <a:srgbClr val="B8D4F2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785681" y="2839402"/>
            <a:ext cx="12304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多基地统一管理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015710" y="3106102"/>
            <a:ext cx="7704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指挥大屏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015710" y="3372802"/>
            <a:ext cx="7704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高级报表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015710" y="3639502"/>
            <a:ext cx="7704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专属部署</a:t>
            </a:r>
          </a:p>
        </p:txBody>
      </p:sp>
      <p:sp>
        <p:nvSpPr>
          <p:cNvPr id="35" name="Freeform 35"/>
          <p:cNvSpPr/>
          <p:nvPr/>
        </p:nvSpPr>
        <p:spPr>
          <a:xfrm>
            <a:off x="8839200" y="1381125"/>
            <a:ext cx="2571750" cy="2857500"/>
          </a:xfrm>
          <a:custGeom>
            <a:avLst/>
            <a:gdLst/>
            <a:ahLst/>
            <a:cxnLst/>
            <a:rect l="l" t="t" r="r" b="b"/>
            <a:pathLst>
              <a:path w="2571750" h="285750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42645"/>
                  <a:pt x="2571750" y="95250"/>
                </a:cubicBezTo>
                <a:lnTo>
                  <a:pt x="2571750" y="2762250"/>
                </a:lnTo>
                <a:cubicBezTo>
                  <a:pt x="2571750" y="2814855"/>
                  <a:pt x="2529105" y="2857500"/>
                  <a:pt x="2476500" y="2857500"/>
                </a:cubicBezTo>
                <a:lnTo>
                  <a:pt x="95250" y="2857500"/>
                </a:lnTo>
                <a:cubicBezTo>
                  <a:pt x="42645" y="2857500"/>
                  <a:pt x="0" y="2814855"/>
                  <a:pt x="0" y="2762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36" name="Freeform 36"/>
          <p:cNvSpPr/>
          <p:nvPr/>
        </p:nvSpPr>
        <p:spPr>
          <a:xfrm>
            <a:off x="8839200" y="1381125"/>
            <a:ext cx="2571750" cy="666750"/>
          </a:xfrm>
          <a:custGeom>
            <a:avLst/>
            <a:gdLst/>
            <a:ahLst/>
            <a:cxnLst/>
            <a:rect l="l" t="t" r="r" b="b"/>
            <a:pathLst>
              <a:path w="2571750" h="66675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42645"/>
                  <a:pt x="2571750" y="95250"/>
                </a:cubicBezTo>
                <a:lnTo>
                  <a:pt x="2571750" y="571500"/>
                </a:lnTo>
                <a:cubicBezTo>
                  <a:pt x="2571750" y="624105"/>
                  <a:pt x="2529105" y="666750"/>
                  <a:pt x="2476500" y="666750"/>
                </a:cubicBezTo>
                <a:lnTo>
                  <a:pt x="95250" y="666750"/>
                </a:lnTo>
                <a:cubicBezTo>
                  <a:pt x="42645" y="666750"/>
                  <a:pt x="0" y="624105"/>
                  <a:pt x="0" y="571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02E5D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588460" y="1571625"/>
            <a:ext cx="10732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SaaS 订阅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827895" y="18568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0C4E3"/>
                </a:solidFill>
                <a:latin typeface="Microsoft YaHei"/>
                <a:ea typeface="Microsoft YaHei"/>
                <a:cs typeface="Microsoft YaHei"/>
              </a:rPr>
              <a:t>持续收入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337405" y="2252662"/>
            <a:ext cx="157534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002E5D"/>
                </a:solidFill>
                <a:latin typeface="Arial"/>
                <a:ea typeface="Microsoft YaHei"/>
                <a:cs typeface="Arial"/>
              </a:rPr>
              <a:t>¥299~899</a:t>
            </a:r>
          </a:p>
        </p:txBody>
      </p:sp>
      <p:sp>
        <p:nvSpPr>
          <p:cNvPr id="40" name="Line 40"/>
          <p:cNvSpPr/>
          <p:nvPr/>
        </p:nvSpPr>
        <p:spPr>
          <a:xfrm>
            <a:off x="9077325" y="266700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9525">
            <a:solidFill>
              <a:srgbClr val="B8D4F2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9498330" y="283940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平台年费 / 基地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586508" y="3106102"/>
            <a:ext cx="10771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数据存储服务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739860" y="3372802"/>
            <a:ext cx="7704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告警通道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739860" y="3639502"/>
            <a:ext cx="7704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持续运维</a:t>
            </a:r>
          </a:p>
        </p:txBody>
      </p:sp>
      <p:sp>
        <p:nvSpPr>
          <p:cNvPr id="45" name="Freeform 45"/>
          <p:cNvSpPr/>
          <p:nvPr/>
        </p:nvSpPr>
        <p:spPr>
          <a:xfrm>
            <a:off x="666750" y="4476750"/>
            <a:ext cx="5219700" cy="1104900"/>
          </a:xfrm>
          <a:custGeom>
            <a:avLst/>
            <a:gdLst/>
            <a:ahLst/>
            <a:cxnLst/>
            <a:rect l="l" t="t" r="r" b="b"/>
            <a:pathLst>
              <a:path w="5219700" h="1104900">
                <a:moveTo>
                  <a:pt x="95250" y="0"/>
                </a:moveTo>
                <a:lnTo>
                  <a:pt x="5124450" y="0"/>
                </a:lnTo>
                <a:cubicBezTo>
                  <a:pt x="5177055" y="0"/>
                  <a:pt x="5219700" y="42645"/>
                  <a:pt x="5219700" y="95250"/>
                </a:cubicBezTo>
                <a:lnTo>
                  <a:pt x="5219700" y="1009650"/>
                </a:lnTo>
                <a:cubicBezTo>
                  <a:pt x="5219700" y="1062255"/>
                  <a:pt x="5177055" y="1104900"/>
                  <a:pt x="5124450" y="1104900"/>
                </a:cubicBezTo>
                <a:lnTo>
                  <a:pt x="95250" y="1104900"/>
                </a:lnTo>
                <a:cubicBezTo>
                  <a:pt x="42645" y="1104900"/>
                  <a:pt x="0" y="1062255"/>
                  <a:pt x="0" y="10096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40105" y="46358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标准版毛利率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19150" y="4819650"/>
            <a:ext cx="159439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78D7"/>
                </a:solidFill>
                <a:latin typeface="Arial"/>
                <a:ea typeface="Microsoft YaHei"/>
                <a:cs typeface="Arial"/>
              </a:rPr>
              <a:t>75~86%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43915" y="5315902"/>
            <a:ext cx="19205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百元内 BOM，毛利大幅提升</a:t>
            </a:r>
          </a:p>
        </p:txBody>
      </p:sp>
      <p:sp>
        <p:nvSpPr>
          <p:cNvPr id="49" name="Freeform 49"/>
          <p:cNvSpPr/>
          <p:nvPr/>
        </p:nvSpPr>
        <p:spPr>
          <a:xfrm>
            <a:off x="6057900" y="4476750"/>
            <a:ext cx="5353050" cy="1104900"/>
          </a:xfrm>
          <a:custGeom>
            <a:avLst/>
            <a:gdLst/>
            <a:ahLst/>
            <a:cxnLst/>
            <a:rect l="l" t="t" r="r" b="b"/>
            <a:pathLst>
              <a:path w="5353050" h="1104900">
                <a:moveTo>
                  <a:pt x="95250" y="0"/>
                </a:moveTo>
                <a:lnTo>
                  <a:pt x="5257800" y="0"/>
                </a:lnTo>
                <a:cubicBezTo>
                  <a:pt x="5310405" y="0"/>
                  <a:pt x="5353050" y="42645"/>
                  <a:pt x="5353050" y="95250"/>
                </a:cubicBezTo>
                <a:lnTo>
                  <a:pt x="5353050" y="1009650"/>
                </a:lnTo>
                <a:cubicBezTo>
                  <a:pt x="5353050" y="1062255"/>
                  <a:pt x="5310405" y="1104900"/>
                  <a:pt x="5257800" y="1104900"/>
                </a:cubicBezTo>
                <a:lnTo>
                  <a:pt x="95250" y="1104900"/>
                </a:lnTo>
                <a:cubicBezTo>
                  <a:pt x="42645" y="1104900"/>
                  <a:pt x="0" y="1062255"/>
                  <a:pt x="0" y="10096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7F8FA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231255" y="46358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双轮收入模型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234112" y="4964906"/>
            <a:ext cx="16469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硬件销售一次性收入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234112" y="5222081"/>
            <a:ext cx="20577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· SaaS 平台年费持续性收入</a:t>
            </a:r>
          </a:p>
        </p:txBody>
      </p:sp>
      <p:sp>
        <p:nvSpPr>
          <p:cNvPr id="53" name="Freeform 53"/>
          <p:cNvSpPr/>
          <p:nvPr/>
        </p:nvSpPr>
        <p:spPr>
          <a:xfrm>
            <a:off x="666750" y="5772150"/>
            <a:ext cx="10744200" cy="742950"/>
          </a:xfrm>
          <a:custGeom>
            <a:avLst/>
            <a:gdLst/>
            <a:ahLst/>
            <a:cxnLst/>
            <a:rect l="l" t="t" r="r" b="b"/>
            <a:pathLst>
              <a:path w="10744200" h="742950">
                <a:moveTo>
                  <a:pt x="95250" y="0"/>
                </a:moveTo>
                <a:lnTo>
                  <a:pt x="10648950" y="0"/>
                </a:lnTo>
                <a:cubicBezTo>
                  <a:pt x="10701555" y="0"/>
                  <a:pt x="10744200" y="42645"/>
                  <a:pt x="10744200" y="95250"/>
                </a:cubicBezTo>
                <a:lnTo>
                  <a:pt x="10744200" y="647700"/>
                </a:lnTo>
                <a:cubicBezTo>
                  <a:pt x="10744200" y="700305"/>
                  <a:pt x="10701555" y="742950"/>
                  <a:pt x="10648950" y="742950"/>
                </a:cubicBezTo>
                <a:lnTo>
                  <a:pt x="95250" y="742950"/>
                </a:lnTo>
                <a:cubicBezTo>
                  <a:pt x="42645" y="742950"/>
                  <a:pt x="0" y="700305"/>
                  <a:pt x="0" y="6477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02E5D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4239755" y="5980271"/>
            <a:ext cx="359819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高毛利 + 持续订阅 = 健康的商业模型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616720" y="6276499"/>
            <a:ext cx="28442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0C4E3"/>
                </a:solidFill>
                <a:latin typeface="Microsoft YaHei"/>
                <a:ea typeface="Microsoft YaHei"/>
                <a:cs typeface="Microsoft YaHei"/>
              </a:rPr>
              <a:t>一次性硬件收入和持续性 SaaS 收入双轮驱动</a:t>
            </a:r>
          </a:p>
        </p:txBody>
      </p:sp>
      <p:sp>
        <p:nvSpPr>
          <p:cNvPr id="56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096625" y="6524625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fld id="{8B3F1C2A-4D6E-4A11-9C3B-0F1E2D3C4B5A}" type="slidenum">
              <a:rPr lang="zh-CN" sz="1050" dirty="0">
                <a:solidFill>
                  <a:srgbClr val="666666"/>
                </a:solidFill>
                <a:latin typeface="Microsoft YaHei"/>
                <a:ea typeface="微软雅黑"/>
              </a:rPr>
              <a:t>1</a:t>
            </a:fld>
            <a:endParaRPr lang="zh-CN" sz="10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2460" y="394335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差异化定位</a:t>
            </a:r>
          </a:p>
        </p:txBody>
      </p:sp>
      <p:sp>
        <p:nvSpPr>
          <p:cNvPr id="3" name="Rectangle 3"/>
          <p:cNvSpPr/>
          <p:nvPr/>
        </p:nvSpPr>
        <p:spPr>
          <a:xfrm>
            <a:off x="666750" y="857250"/>
            <a:ext cx="1143000" cy="57150"/>
          </a:xfrm>
          <a:prstGeom prst="rect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2462" y="1021556"/>
            <a:ext cx="38076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对比现有方案，我们以百元内硬件切入空白冬泳市场</a:t>
            </a:r>
          </a:p>
        </p:txBody>
      </p:sp>
      <p:sp>
        <p:nvSpPr>
          <p:cNvPr id="5" name="Freeform 5"/>
          <p:cNvSpPr/>
          <p:nvPr/>
        </p:nvSpPr>
        <p:spPr>
          <a:xfrm>
            <a:off x="666750" y="1381125"/>
            <a:ext cx="5181600" cy="2857500"/>
          </a:xfrm>
          <a:custGeom>
            <a:avLst/>
            <a:gdLst/>
            <a:ahLst/>
            <a:cxnLst/>
            <a:rect l="l" t="t" r="r" b="b"/>
            <a:pathLst>
              <a:path w="5181600" h="2857500">
                <a:moveTo>
                  <a:pt x="95250" y="0"/>
                </a:moveTo>
                <a:lnTo>
                  <a:pt x="5086350" y="0"/>
                </a:lnTo>
                <a:cubicBezTo>
                  <a:pt x="5138955" y="0"/>
                  <a:pt x="5181600" y="42645"/>
                  <a:pt x="5181600" y="95250"/>
                </a:cubicBezTo>
                <a:lnTo>
                  <a:pt x="5181600" y="2762250"/>
                </a:lnTo>
                <a:cubicBezTo>
                  <a:pt x="5181600" y="2814855"/>
                  <a:pt x="5138955" y="2857500"/>
                  <a:pt x="5086350" y="2857500"/>
                </a:cubicBezTo>
                <a:lnTo>
                  <a:pt x="95250" y="2857500"/>
                </a:lnTo>
                <a:cubicBezTo>
                  <a:pt x="42645" y="2857500"/>
                  <a:pt x="0" y="2814855"/>
                  <a:pt x="0" y="2762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7F8FA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666750" y="1381125"/>
            <a:ext cx="5181600" cy="495300"/>
          </a:xfrm>
          <a:custGeom>
            <a:avLst/>
            <a:gdLst/>
            <a:ahLst/>
            <a:cxnLst/>
            <a:rect l="l" t="t" r="r" b="b"/>
            <a:pathLst>
              <a:path w="5181600" h="495300">
                <a:moveTo>
                  <a:pt x="95250" y="0"/>
                </a:moveTo>
                <a:lnTo>
                  <a:pt x="5086350" y="0"/>
                </a:lnTo>
                <a:cubicBezTo>
                  <a:pt x="5138955" y="0"/>
                  <a:pt x="5181600" y="42645"/>
                  <a:pt x="5181600" y="95250"/>
                </a:cubicBezTo>
                <a:lnTo>
                  <a:pt x="5181600" y="400050"/>
                </a:lnTo>
                <a:cubicBezTo>
                  <a:pt x="5181600" y="452655"/>
                  <a:pt x="5138955" y="495300"/>
                  <a:pt x="5086350" y="495300"/>
                </a:cubicBezTo>
                <a:lnTo>
                  <a:pt x="95250" y="495300"/>
                </a:lnTo>
                <a:cubicBezTo>
                  <a:pt x="42645" y="495300"/>
                  <a:pt x="0" y="452655"/>
                  <a:pt x="0" y="4000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871E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802398" y="1551146"/>
            <a:ext cx="91030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现有方案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68473" y="2116931"/>
            <a:ext cx="23781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工业浮标 / 泳池系统 / 通用监测</a:t>
            </a:r>
          </a:p>
        </p:txBody>
      </p:sp>
      <p:sp>
        <p:nvSpPr>
          <p:cNvPr id="9" name="Line 9"/>
          <p:cNvSpPr/>
          <p:nvPr/>
        </p:nvSpPr>
        <p:spPr>
          <a:xfrm>
            <a:off x="904875" y="2476500"/>
            <a:ext cx="4705350" cy="9525"/>
          </a:xfrm>
          <a:custGeom>
            <a:avLst/>
            <a:gdLst/>
            <a:ahLst/>
            <a:cxnLst/>
            <a:rect l="l" t="t" r="r" b="b"/>
            <a:pathLst>
              <a:path w="4705350" h="9525">
                <a:moveTo>
                  <a:pt x="0" y="0"/>
                </a:moveTo>
                <a:lnTo>
                  <a:pt x="4705350" y="0"/>
                </a:lnTo>
              </a:path>
            </a:pathLst>
          </a:custGeom>
          <a:noFill/>
          <a:ln w="9525">
            <a:solidFill>
              <a:srgbClr val="DDDDDD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2516207" y="2688431"/>
            <a:ext cx="14826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· 价格数万，重资产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69748" y="3002756"/>
            <a:ext cx="19756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· 复杂不灵活，非场景专属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16207" y="3317081"/>
            <a:ext cx="14826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· 缺少冬泳极寒适配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34054" y="3631406"/>
            <a:ext cx="16469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· 无统一平台统一管理</a:t>
            </a:r>
          </a:p>
        </p:txBody>
      </p:sp>
      <p:sp>
        <p:nvSpPr>
          <p:cNvPr id="14" name="Freeform 14"/>
          <p:cNvSpPr/>
          <p:nvPr/>
        </p:nvSpPr>
        <p:spPr>
          <a:xfrm>
            <a:off x="6057900" y="1381125"/>
            <a:ext cx="5181600" cy="2857500"/>
          </a:xfrm>
          <a:custGeom>
            <a:avLst/>
            <a:gdLst/>
            <a:ahLst/>
            <a:cxnLst/>
            <a:rect l="l" t="t" r="r" b="b"/>
            <a:pathLst>
              <a:path w="5181600" h="2857500">
                <a:moveTo>
                  <a:pt x="95250" y="0"/>
                </a:moveTo>
                <a:lnTo>
                  <a:pt x="5086350" y="0"/>
                </a:lnTo>
                <a:cubicBezTo>
                  <a:pt x="5138955" y="0"/>
                  <a:pt x="5181600" y="42645"/>
                  <a:pt x="5181600" y="95250"/>
                </a:cubicBezTo>
                <a:lnTo>
                  <a:pt x="5181600" y="2762250"/>
                </a:lnTo>
                <a:cubicBezTo>
                  <a:pt x="5181600" y="2814855"/>
                  <a:pt x="5138955" y="2857500"/>
                  <a:pt x="5086350" y="2857500"/>
                </a:cubicBezTo>
                <a:lnTo>
                  <a:pt x="95250" y="2857500"/>
                </a:lnTo>
                <a:cubicBezTo>
                  <a:pt x="42645" y="2857500"/>
                  <a:pt x="0" y="2814855"/>
                  <a:pt x="0" y="2762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6057900" y="1381125"/>
            <a:ext cx="5181600" cy="495300"/>
          </a:xfrm>
          <a:custGeom>
            <a:avLst/>
            <a:gdLst/>
            <a:ahLst/>
            <a:cxnLst/>
            <a:rect l="l" t="t" r="r" b="b"/>
            <a:pathLst>
              <a:path w="5181600" h="495300">
                <a:moveTo>
                  <a:pt x="95250" y="0"/>
                </a:moveTo>
                <a:lnTo>
                  <a:pt x="5086350" y="0"/>
                </a:lnTo>
                <a:cubicBezTo>
                  <a:pt x="5138955" y="0"/>
                  <a:pt x="5181600" y="42645"/>
                  <a:pt x="5181600" y="95250"/>
                </a:cubicBezTo>
                <a:lnTo>
                  <a:pt x="5181600" y="400050"/>
                </a:lnTo>
                <a:cubicBezTo>
                  <a:pt x="5181600" y="452655"/>
                  <a:pt x="5138955" y="495300"/>
                  <a:pt x="5086350" y="495300"/>
                </a:cubicBezTo>
                <a:lnTo>
                  <a:pt x="95250" y="495300"/>
                </a:lnTo>
                <a:cubicBezTo>
                  <a:pt x="42645" y="495300"/>
                  <a:pt x="0" y="452655"/>
                  <a:pt x="0" y="4000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078D7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363144" y="1551146"/>
            <a:ext cx="257111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 ｜ 轻量化物联网方案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00883" y="2116931"/>
            <a:ext cx="249563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轻量化 · 百元内硬件 · 场景专属</a:t>
            </a:r>
          </a:p>
        </p:txBody>
      </p:sp>
      <p:sp>
        <p:nvSpPr>
          <p:cNvPr id="18" name="Line 18"/>
          <p:cNvSpPr/>
          <p:nvPr/>
        </p:nvSpPr>
        <p:spPr>
          <a:xfrm>
            <a:off x="6296025" y="2476500"/>
            <a:ext cx="4705350" cy="9525"/>
          </a:xfrm>
          <a:custGeom>
            <a:avLst/>
            <a:gdLst/>
            <a:ahLst/>
            <a:cxnLst/>
            <a:rect l="l" t="t" r="r" b="b"/>
            <a:pathLst>
              <a:path w="4705350" h="9525">
                <a:moveTo>
                  <a:pt x="0" y="0"/>
                </a:moveTo>
                <a:lnTo>
                  <a:pt x="4705350" y="0"/>
                </a:lnTo>
              </a:path>
            </a:pathLst>
          </a:custGeom>
          <a:noFill/>
          <a:ln w="9525">
            <a:solidFill>
              <a:srgbClr val="B8D4F2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451408" y="2688431"/>
            <a:ext cx="23945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· 硬件成本 ＜ ¥100，极致性价比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87101" y="3002756"/>
            <a:ext cx="27231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· 5米探头置水下，多点部署示意更准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14439" y="3317081"/>
            <a:ext cx="246852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· 微信小程序免安装，强告警推送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78745" y="3631406"/>
            <a:ext cx="21399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· 统一云平台，可标准化复制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700" y="4457700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五大核心优势</a:t>
            </a:r>
          </a:p>
        </p:txBody>
      </p:sp>
      <p:sp>
        <p:nvSpPr>
          <p:cNvPr id="24" name="Freeform 24"/>
          <p:cNvSpPr/>
          <p:nvPr/>
        </p:nvSpPr>
        <p:spPr>
          <a:xfrm>
            <a:off x="666750" y="4810125"/>
            <a:ext cx="2057400" cy="666750"/>
          </a:xfrm>
          <a:custGeom>
            <a:avLst/>
            <a:gdLst/>
            <a:ahLst/>
            <a:cxnLst/>
            <a:rect l="l" t="t" r="r" b="b"/>
            <a:pathLst>
              <a:path w="2057400" h="666750">
                <a:moveTo>
                  <a:pt x="76200" y="0"/>
                </a:moveTo>
                <a:lnTo>
                  <a:pt x="1981200" y="0"/>
                </a:lnTo>
                <a:cubicBezTo>
                  <a:pt x="2023284" y="0"/>
                  <a:pt x="2057400" y="34116"/>
                  <a:pt x="2057400" y="76200"/>
                </a:cubicBezTo>
                <a:lnTo>
                  <a:pt x="2057400" y="590550"/>
                </a:lnTo>
                <a:cubicBezTo>
                  <a:pt x="2057400" y="632634"/>
                  <a:pt x="2023284" y="666750"/>
                  <a:pt x="1981200" y="666750"/>
                </a:cubicBezTo>
                <a:lnTo>
                  <a:pt x="76200" y="666750"/>
                </a:lnTo>
                <a:cubicBezTo>
                  <a:pt x="34116" y="666750"/>
                  <a:pt x="0" y="632634"/>
                  <a:pt x="0" y="59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78D7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288209" y="4986814"/>
            <a:ext cx="8144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百元硬件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89685" y="525589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CFE4FA"/>
                </a:solidFill>
                <a:latin typeface="Microsoft YaHei"/>
                <a:ea typeface="Microsoft YaHei"/>
                <a:cs typeface="Microsoft YaHei"/>
              </a:rPr>
              <a:t>成本门槛极低</a:t>
            </a:r>
          </a:p>
        </p:txBody>
      </p:sp>
      <p:sp>
        <p:nvSpPr>
          <p:cNvPr id="27" name="Freeform 27"/>
          <p:cNvSpPr/>
          <p:nvPr/>
        </p:nvSpPr>
        <p:spPr>
          <a:xfrm>
            <a:off x="2838450" y="4810125"/>
            <a:ext cx="2057400" cy="666750"/>
          </a:xfrm>
          <a:custGeom>
            <a:avLst/>
            <a:gdLst/>
            <a:ahLst/>
            <a:cxnLst/>
            <a:rect l="l" t="t" r="r" b="b"/>
            <a:pathLst>
              <a:path w="2057400" h="666750">
                <a:moveTo>
                  <a:pt x="76200" y="0"/>
                </a:moveTo>
                <a:lnTo>
                  <a:pt x="1981200" y="0"/>
                </a:lnTo>
                <a:cubicBezTo>
                  <a:pt x="2023284" y="0"/>
                  <a:pt x="2057400" y="34116"/>
                  <a:pt x="2057400" y="76200"/>
                </a:cubicBezTo>
                <a:lnTo>
                  <a:pt x="2057400" y="590550"/>
                </a:lnTo>
                <a:cubicBezTo>
                  <a:pt x="2057400" y="632634"/>
                  <a:pt x="2023284" y="666750"/>
                  <a:pt x="1981200" y="666750"/>
                </a:cubicBezTo>
                <a:lnTo>
                  <a:pt x="76200" y="666750"/>
                </a:lnTo>
                <a:cubicBezTo>
                  <a:pt x="34116" y="666750"/>
                  <a:pt x="0" y="632634"/>
                  <a:pt x="0" y="59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CA1E7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3557671" y="4986814"/>
            <a:ext cx="61895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轻量化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395662" y="525589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8F1FB"/>
                </a:solidFill>
                <a:latin typeface="Microsoft YaHei"/>
                <a:ea typeface="Microsoft YaHei"/>
                <a:cs typeface="Microsoft YaHei"/>
              </a:rPr>
              <a:t>部署灵活安装快</a:t>
            </a:r>
          </a:p>
        </p:txBody>
      </p:sp>
      <p:sp>
        <p:nvSpPr>
          <p:cNvPr id="30" name="Freeform 30"/>
          <p:cNvSpPr/>
          <p:nvPr/>
        </p:nvSpPr>
        <p:spPr>
          <a:xfrm>
            <a:off x="5010150" y="4810125"/>
            <a:ext cx="2057400" cy="666750"/>
          </a:xfrm>
          <a:custGeom>
            <a:avLst/>
            <a:gdLst/>
            <a:ahLst/>
            <a:cxnLst/>
            <a:rect l="l" t="t" r="r" b="b"/>
            <a:pathLst>
              <a:path w="2057400" h="666750">
                <a:moveTo>
                  <a:pt x="76200" y="0"/>
                </a:moveTo>
                <a:lnTo>
                  <a:pt x="1981200" y="0"/>
                </a:lnTo>
                <a:cubicBezTo>
                  <a:pt x="2023284" y="0"/>
                  <a:pt x="2057400" y="34116"/>
                  <a:pt x="2057400" y="76200"/>
                </a:cubicBezTo>
                <a:lnTo>
                  <a:pt x="2057400" y="590550"/>
                </a:lnTo>
                <a:cubicBezTo>
                  <a:pt x="2057400" y="632634"/>
                  <a:pt x="2023284" y="666750"/>
                  <a:pt x="1981200" y="666750"/>
                </a:cubicBezTo>
                <a:lnTo>
                  <a:pt x="76200" y="666750"/>
                </a:lnTo>
                <a:cubicBezTo>
                  <a:pt x="34116" y="666750"/>
                  <a:pt x="0" y="632634"/>
                  <a:pt x="0" y="59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78D7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631609" y="4986814"/>
            <a:ext cx="8144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多点部署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98808" y="525589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CFE4FA"/>
                </a:solidFill>
                <a:latin typeface="Microsoft YaHei"/>
                <a:ea typeface="Microsoft YaHei"/>
                <a:cs typeface="Microsoft YaHei"/>
              </a:rPr>
              <a:t>监测更精准</a:t>
            </a:r>
          </a:p>
        </p:txBody>
      </p:sp>
      <p:sp>
        <p:nvSpPr>
          <p:cNvPr id="33" name="Freeform 33"/>
          <p:cNvSpPr/>
          <p:nvPr/>
        </p:nvSpPr>
        <p:spPr>
          <a:xfrm>
            <a:off x="7181850" y="4810125"/>
            <a:ext cx="2057400" cy="666750"/>
          </a:xfrm>
          <a:custGeom>
            <a:avLst/>
            <a:gdLst/>
            <a:ahLst/>
            <a:cxnLst/>
            <a:rect l="l" t="t" r="r" b="b"/>
            <a:pathLst>
              <a:path w="2057400" h="666750">
                <a:moveTo>
                  <a:pt x="76200" y="0"/>
                </a:moveTo>
                <a:lnTo>
                  <a:pt x="1981200" y="0"/>
                </a:lnTo>
                <a:cubicBezTo>
                  <a:pt x="2023284" y="0"/>
                  <a:pt x="2057400" y="34116"/>
                  <a:pt x="2057400" y="76200"/>
                </a:cubicBezTo>
                <a:lnTo>
                  <a:pt x="2057400" y="590550"/>
                </a:lnTo>
                <a:cubicBezTo>
                  <a:pt x="2057400" y="632634"/>
                  <a:pt x="2023284" y="666750"/>
                  <a:pt x="1981200" y="666750"/>
                </a:cubicBezTo>
                <a:lnTo>
                  <a:pt x="76200" y="666750"/>
                </a:lnTo>
                <a:cubicBezTo>
                  <a:pt x="34116" y="666750"/>
                  <a:pt x="0" y="632634"/>
                  <a:pt x="0" y="59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CA1E7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901071" y="4986814"/>
            <a:ext cx="61895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强告警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739062" y="525589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8F1FB"/>
                </a:solidFill>
                <a:latin typeface="Microsoft YaHei"/>
                <a:ea typeface="Microsoft YaHei"/>
                <a:cs typeface="Microsoft YaHei"/>
              </a:rPr>
              <a:t>小程序实时推送</a:t>
            </a:r>
          </a:p>
        </p:txBody>
      </p:sp>
      <p:sp>
        <p:nvSpPr>
          <p:cNvPr id="36" name="Freeform 36"/>
          <p:cNvSpPr/>
          <p:nvPr/>
        </p:nvSpPr>
        <p:spPr>
          <a:xfrm>
            <a:off x="9353550" y="4810125"/>
            <a:ext cx="2057400" cy="666750"/>
          </a:xfrm>
          <a:custGeom>
            <a:avLst/>
            <a:gdLst/>
            <a:ahLst/>
            <a:cxnLst/>
            <a:rect l="l" t="t" r="r" b="b"/>
            <a:pathLst>
              <a:path w="2057400" h="666750">
                <a:moveTo>
                  <a:pt x="76200" y="0"/>
                </a:moveTo>
                <a:lnTo>
                  <a:pt x="1981200" y="0"/>
                </a:lnTo>
                <a:cubicBezTo>
                  <a:pt x="2023284" y="0"/>
                  <a:pt x="2057400" y="34116"/>
                  <a:pt x="2057400" y="76200"/>
                </a:cubicBezTo>
                <a:lnTo>
                  <a:pt x="2057400" y="590550"/>
                </a:lnTo>
                <a:cubicBezTo>
                  <a:pt x="2057400" y="632634"/>
                  <a:pt x="2023284" y="666750"/>
                  <a:pt x="1981200" y="666750"/>
                </a:cubicBezTo>
                <a:lnTo>
                  <a:pt x="76200" y="666750"/>
                </a:lnTo>
                <a:cubicBezTo>
                  <a:pt x="34116" y="666750"/>
                  <a:pt x="0" y="632634"/>
                  <a:pt x="0" y="59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2E5D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0072771" y="4986814"/>
            <a:ext cx="61895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可复制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042208" y="525589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C4E3"/>
                </a:solidFill>
                <a:latin typeface="Microsoft YaHei"/>
                <a:ea typeface="Microsoft YaHei"/>
                <a:cs typeface="Microsoft YaHei"/>
              </a:rPr>
              <a:t>规模化扩展</a:t>
            </a:r>
          </a:p>
        </p:txBody>
      </p:sp>
      <p:sp>
        <p:nvSpPr>
          <p:cNvPr id="39" name="Freeform 39"/>
          <p:cNvSpPr/>
          <p:nvPr/>
        </p:nvSpPr>
        <p:spPr>
          <a:xfrm>
            <a:off x="666750" y="5715000"/>
            <a:ext cx="10744200" cy="762000"/>
          </a:xfrm>
          <a:custGeom>
            <a:avLst/>
            <a:gdLst/>
            <a:ahLst/>
            <a:cxnLst/>
            <a:rect l="l" t="t" r="r" b="b"/>
            <a:pathLst>
              <a:path w="10744200" h="762000">
                <a:moveTo>
                  <a:pt x="95250" y="0"/>
                </a:moveTo>
                <a:lnTo>
                  <a:pt x="10648950" y="0"/>
                </a:lnTo>
                <a:cubicBezTo>
                  <a:pt x="10701555" y="0"/>
                  <a:pt x="10744200" y="42645"/>
                  <a:pt x="10744200" y="95250"/>
                </a:cubicBezTo>
                <a:lnTo>
                  <a:pt x="10744200" y="666750"/>
                </a:lnTo>
                <a:cubicBezTo>
                  <a:pt x="10744200" y="719355"/>
                  <a:pt x="10701555" y="762000"/>
                  <a:pt x="10648950" y="762000"/>
                </a:cubicBezTo>
                <a:lnTo>
                  <a:pt x="95250" y="762000"/>
                </a:lnTo>
                <a:cubicBezTo>
                  <a:pt x="42645" y="762000"/>
                  <a:pt x="0" y="719355"/>
                  <a:pt x="0" y="666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02E5D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3289161" y="5923121"/>
            <a:ext cx="549937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以百元内成本解决核心刚需，构建可复制的差异化护城河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816078" y="6219349"/>
            <a:ext cx="24455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0C4E3"/>
                </a:solidFill>
                <a:latin typeface="Microsoft YaHei"/>
                <a:ea typeface="Microsoft YaHei"/>
                <a:cs typeface="Microsoft YaHei"/>
              </a:rPr>
              <a:t>轻量化物联网是冬泳水温监测的最优解</a:t>
            </a:r>
          </a:p>
        </p:txBody>
      </p:sp>
      <p:sp>
        <p:nvSpPr>
          <p:cNvPr id="42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096625" y="6524625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fld id="{8B3F1C2A-4D6E-4A11-9C3B-0F1E2D3C4B5A}" type="slidenum">
              <a:rPr lang="zh-CN" sz="1050" dirty="0">
                <a:solidFill>
                  <a:srgbClr val="666666"/>
                </a:solidFill>
                <a:latin typeface="Microsoft YaHei"/>
                <a:ea typeface="微软雅黑"/>
              </a:rPr>
              <a:t>1</a:t>
            </a:fld>
            <a:endParaRPr lang="zh-CN" sz="10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40342" y="1238250"/>
            <a:ext cx="2911316" cy="304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0" b="1" dirty="0">
                <a:solidFill>
                  <a:srgbClr val="FFFFFF">
                    <a:alpha val="12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458718" y="3577590"/>
            <a:ext cx="5274564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销售与扩展计划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886200" y="4524375"/>
            <a:ext cx="44196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A0C4E3"/>
                </a:solidFill>
                <a:latin typeface="Microsoft YaHei"/>
                <a:ea typeface="Microsoft YaHei"/>
                <a:cs typeface="Microsoft YaHei"/>
              </a:rPr>
              <a:t>目标客户、销售打法、盈利模式与里程碑路线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2460" y="39433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目标客户与销售打法</a:t>
            </a:r>
          </a:p>
        </p:txBody>
      </p:sp>
      <p:sp>
        <p:nvSpPr>
          <p:cNvPr id="3" name="Rectangle 3"/>
          <p:cNvSpPr/>
          <p:nvPr/>
        </p:nvSpPr>
        <p:spPr>
          <a:xfrm>
            <a:off x="666750" y="857250"/>
            <a:ext cx="1143000" cy="57150"/>
          </a:xfrm>
          <a:prstGeom prst="rect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2462" y="1021556"/>
            <a:ext cx="26574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精准锁定三类客户，多渠道组合打法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7700" y="13430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目标客户</a:t>
            </a:r>
          </a:p>
        </p:txBody>
      </p:sp>
      <p:sp>
        <p:nvSpPr>
          <p:cNvPr id="6" name="Freeform 6"/>
          <p:cNvSpPr/>
          <p:nvPr/>
        </p:nvSpPr>
        <p:spPr>
          <a:xfrm>
            <a:off x="666750" y="1638300"/>
            <a:ext cx="3390900" cy="1714500"/>
          </a:xfrm>
          <a:custGeom>
            <a:avLst/>
            <a:gdLst/>
            <a:ahLst/>
            <a:cxnLst/>
            <a:rect l="l" t="t" r="r" b="b"/>
            <a:pathLst>
              <a:path w="3390900" h="1714500">
                <a:moveTo>
                  <a:pt x="95250" y="0"/>
                </a:moveTo>
                <a:lnTo>
                  <a:pt x="3295650" y="0"/>
                </a:lnTo>
                <a:cubicBezTo>
                  <a:pt x="3348255" y="0"/>
                  <a:pt x="3390900" y="42645"/>
                  <a:pt x="3390900" y="95250"/>
                </a:cubicBezTo>
                <a:lnTo>
                  <a:pt x="3390900" y="1619250"/>
                </a:lnTo>
                <a:cubicBezTo>
                  <a:pt x="3390900" y="1671855"/>
                  <a:pt x="3348255" y="1714500"/>
                  <a:pt x="32956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666750" y="1638300"/>
            <a:ext cx="3390900" cy="495300"/>
          </a:xfrm>
          <a:custGeom>
            <a:avLst/>
            <a:gdLst/>
            <a:ahLst/>
            <a:cxnLst/>
            <a:rect l="l" t="t" r="r" b="b"/>
            <a:pathLst>
              <a:path w="3390900" h="495300">
                <a:moveTo>
                  <a:pt x="95250" y="0"/>
                </a:moveTo>
                <a:lnTo>
                  <a:pt x="3295650" y="0"/>
                </a:lnTo>
                <a:cubicBezTo>
                  <a:pt x="3348255" y="0"/>
                  <a:pt x="3390900" y="42645"/>
                  <a:pt x="3390900" y="95250"/>
                </a:cubicBezTo>
                <a:lnTo>
                  <a:pt x="3390900" y="400050"/>
                </a:lnTo>
                <a:cubicBezTo>
                  <a:pt x="3390900" y="452655"/>
                  <a:pt x="3348255" y="495300"/>
                  <a:pt x="3295650" y="495300"/>
                </a:cubicBezTo>
                <a:lnTo>
                  <a:pt x="95250" y="495300"/>
                </a:lnTo>
                <a:cubicBezTo>
                  <a:pt x="42645" y="495300"/>
                  <a:pt x="0" y="452655"/>
                  <a:pt x="0" y="4000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078D7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931003" y="178784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冬泳协会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44228" y="227885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各地方冬泳协会、俱乐部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26381" y="2545556"/>
            <a:ext cx="16716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赛事组委、活动运营方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96211" y="2812256"/>
            <a:ext cx="153197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痛点最痛 · 出量最快</a:t>
            </a:r>
          </a:p>
        </p:txBody>
      </p:sp>
      <p:sp>
        <p:nvSpPr>
          <p:cNvPr id="12" name="Freeform 12"/>
          <p:cNvSpPr/>
          <p:nvPr/>
        </p:nvSpPr>
        <p:spPr>
          <a:xfrm>
            <a:off x="4229100" y="1638300"/>
            <a:ext cx="3390900" cy="1714500"/>
          </a:xfrm>
          <a:custGeom>
            <a:avLst/>
            <a:gdLst/>
            <a:ahLst/>
            <a:cxnLst/>
            <a:rect l="l" t="t" r="r" b="b"/>
            <a:pathLst>
              <a:path w="3390900" h="1714500">
                <a:moveTo>
                  <a:pt x="95250" y="0"/>
                </a:moveTo>
                <a:lnTo>
                  <a:pt x="3295650" y="0"/>
                </a:lnTo>
                <a:cubicBezTo>
                  <a:pt x="3348255" y="0"/>
                  <a:pt x="3390900" y="42645"/>
                  <a:pt x="3390900" y="95250"/>
                </a:cubicBezTo>
                <a:lnTo>
                  <a:pt x="3390900" y="1619250"/>
                </a:lnTo>
                <a:cubicBezTo>
                  <a:pt x="3390900" y="1671855"/>
                  <a:pt x="3348255" y="1714500"/>
                  <a:pt x="32956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4229100" y="1638300"/>
            <a:ext cx="3390900" cy="495300"/>
          </a:xfrm>
          <a:custGeom>
            <a:avLst/>
            <a:gdLst/>
            <a:ahLst/>
            <a:cxnLst/>
            <a:rect l="l" t="t" r="r" b="b"/>
            <a:pathLst>
              <a:path w="3390900" h="495300">
                <a:moveTo>
                  <a:pt x="95250" y="0"/>
                </a:moveTo>
                <a:lnTo>
                  <a:pt x="3295650" y="0"/>
                </a:lnTo>
                <a:cubicBezTo>
                  <a:pt x="3348255" y="0"/>
                  <a:pt x="3390900" y="42645"/>
                  <a:pt x="3390900" y="95250"/>
                </a:cubicBezTo>
                <a:lnTo>
                  <a:pt x="3390900" y="400050"/>
                </a:lnTo>
                <a:cubicBezTo>
                  <a:pt x="3390900" y="452655"/>
                  <a:pt x="3348255" y="495300"/>
                  <a:pt x="3295650" y="495300"/>
                </a:cubicBezTo>
                <a:lnTo>
                  <a:pt x="95250" y="495300"/>
                </a:lnTo>
                <a:cubicBezTo>
                  <a:pt x="42645" y="495300"/>
                  <a:pt x="0" y="452655"/>
                  <a:pt x="0" y="4000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4CA1E7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493353" y="178784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政府部门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24425" y="2278856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体育、旅游、应急管理部门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06578" y="254555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冬季运动、冰雪经济主管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58561" y="2812256"/>
            <a:ext cx="153197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预算充足 · 政策支持</a:t>
            </a:r>
          </a:p>
        </p:txBody>
      </p:sp>
      <p:sp>
        <p:nvSpPr>
          <p:cNvPr id="18" name="Freeform 18"/>
          <p:cNvSpPr/>
          <p:nvPr/>
        </p:nvSpPr>
        <p:spPr>
          <a:xfrm>
            <a:off x="7791450" y="1638300"/>
            <a:ext cx="3390900" cy="1714500"/>
          </a:xfrm>
          <a:custGeom>
            <a:avLst/>
            <a:gdLst/>
            <a:ahLst/>
            <a:cxnLst/>
            <a:rect l="l" t="t" r="r" b="b"/>
            <a:pathLst>
              <a:path w="3390900" h="1714500">
                <a:moveTo>
                  <a:pt x="95250" y="0"/>
                </a:moveTo>
                <a:lnTo>
                  <a:pt x="3295650" y="0"/>
                </a:lnTo>
                <a:cubicBezTo>
                  <a:pt x="3348255" y="0"/>
                  <a:pt x="3390900" y="42645"/>
                  <a:pt x="3390900" y="95250"/>
                </a:cubicBezTo>
                <a:lnTo>
                  <a:pt x="3390900" y="1619250"/>
                </a:lnTo>
                <a:cubicBezTo>
                  <a:pt x="3390900" y="1671855"/>
                  <a:pt x="3348255" y="1714500"/>
                  <a:pt x="32956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19" name="Freeform 19"/>
          <p:cNvSpPr/>
          <p:nvPr/>
        </p:nvSpPr>
        <p:spPr>
          <a:xfrm>
            <a:off x="7791450" y="1638300"/>
            <a:ext cx="3390900" cy="495300"/>
          </a:xfrm>
          <a:custGeom>
            <a:avLst/>
            <a:gdLst/>
            <a:ahLst/>
            <a:cxnLst/>
            <a:rect l="l" t="t" r="r" b="b"/>
            <a:pathLst>
              <a:path w="3390900" h="495300">
                <a:moveTo>
                  <a:pt x="95250" y="0"/>
                </a:moveTo>
                <a:lnTo>
                  <a:pt x="3295650" y="0"/>
                </a:lnTo>
                <a:cubicBezTo>
                  <a:pt x="3348255" y="0"/>
                  <a:pt x="3390900" y="42645"/>
                  <a:pt x="3390900" y="95250"/>
                </a:cubicBezTo>
                <a:lnTo>
                  <a:pt x="3390900" y="400050"/>
                </a:lnTo>
                <a:cubicBezTo>
                  <a:pt x="3390900" y="452655"/>
                  <a:pt x="3348255" y="495300"/>
                  <a:pt x="3295650" y="495300"/>
                </a:cubicBezTo>
                <a:lnTo>
                  <a:pt x="95250" y="495300"/>
                </a:lnTo>
                <a:cubicBezTo>
                  <a:pt x="42645" y="495300"/>
                  <a:pt x="0" y="452655"/>
                  <a:pt x="0" y="4000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078D7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952190" y="1787842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基地运营方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88050" y="2278856"/>
            <a:ext cx="1597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经营性冬泳/游泳基地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51081" y="2545556"/>
            <a:ext cx="16716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景区、滑雪场配套设施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85218" y="2812256"/>
            <a:ext cx="120336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重运营 · 重管理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7700" y="35337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销售打法</a:t>
            </a:r>
          </a:p>
        </p:txBody>
      </p:sp>
      <p:sp>
        <p:nvSpPr>
          <p:cNvPr id="25" name="Freeform 25"/>
          <p:cNvSpPr/>
          <p:nvPr/>
        </p:nvSpPr>
        <p:spPr>
          <a:xfrm>
            <a:off x="666750" y="3829050"/>
            <a:ext cx="3390900" cy="1143000"/>
          </a:xfrm>
          <a:custGeom>
            <a:avLst/>
            <a:gdLst/>
            <a:ahLst/>
            <a:cxnLst/>
            <a:rect l="l" t="t" r="r" b="b"/>
            <a:pathLst>
              <a:path w="3390900" h="1143000">
                <a:moveTo>
                  <a:pt x="95250" y="0"/>
                </a:moveTo>
                <a:lnTo>
                  <a:pt x="3295650" y="0"/>
                </a:lnTo>
                <a:cubicBezTo>
                  <a:pt x="3348255" y="0"/>
                  <a:pt x="3390900" y="42645"/>
                  <a:pt x="3390900" y="95250"/>
                </a:cubicBezTo>
                <a:lnTo>
                  <a:pt x="3390900" y="1047750"/>
                </a:lnTo>
                <a:cubicBezTo>
                  <a:pt x="3390900" y="1100355"/>
                  <a:pt x="3348255" y="1143000"/>
                  <a:pt x="32956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7F8F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41058" y="3977164"/>
            <a:ext cx="140105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协会与赛事切入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3915" y="42491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冠名赛事、现场演示、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3915" y="447770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借协会网络快速铺开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3915" y="47063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建立标杆案例</a:t>
            </a:r>
          </a:p>
        </p:txBody>
      </p:sp>
      <p:sp>
        <p:nvSpPr>
          <p:cNvPr id="30" name="Freeform 30"/>
          <p:cNvSpPr/>
          <p:nvPr/>
        </p:nvSpPr>
        <p:spPr>
          <a:xfrm>
            <a:off x="4229100" y="3829050"/>
            <a:ext cx="3390900" cy="1143000"/>
          </a:xfrm>
          <a:custGeom>
            <a:avLst/>
            <a:gdLst/>
            <a:ahLst/>
            <a:cxnLst/>
            <a:rect l="l" t="t" r="r" b="b"/>
            <a:pathLst>
              <a:path w="3390900" h="1143000">
                <a:moveTo>
                  <a:pt x="95250" y="0"/>
                </a:moveTo>
                <a:lnTo>
                  <a:pt x="3295650" y="0"/>
                </a:lnTo>
                <a:cubicBezTo>
                  <a:pt x="3348255" y="0"/>
                  <a:pt x="3390900" y="42645"/>
                  <a:pt x="3390900" y="95250"/>
                </a:cubicBezTo>
                <a:lnTo>
                  <a:pt x="3390900" y="1047750"/>
                </a:lnTo>
                <a:cubicBezTo>
                  <a:pt x="3390900" y="1100355"/>
                  <a:pt x="3348255" y="1143000"/>
                  <a:pt x="32956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7F8FA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403408" y="3977164"/>
            <a:ext cx="140105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线上渠道与营销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406265" y="4249102"/>
            <a:ext cx="1429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电商平台 + 内容营销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406265" y="4477702"/>
            <a:ext cx="14911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短视频/直播科普引流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406265" y="4706302"/>
            <a:ext cx="12764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SEO 触达精准客户</a:t>
            </a:r>
          </a:p>
        </p:txBody>
      </p:sp>
      <p:sp>
        <p:nvSpPr>
          <p:cNvPr id="35" name="Freeform 35"/>
          <p:cNvSpPr/>
          <p:nvPr/>
        </p:nvSpPr>
        <p:spPr>
          <a:xfrm>
            <a:off x="7791450" y="3829050"/>
            <a:ext cx="3390900" cy="1143000"/>
          </a:xfrm>
          <a:custGeom>
            <a:avLst/>
            <a:gdLst/>
            <a:ahLst/>
            <a:cxnLst/>
            <a:rect l="l" t="t" r="r" b="b"/>
            <a:pathLst>
              <a:path w="3390900" h="1143000">
                <a:moveTo>
                  <a:pt x="95250" y="0"/>
                </a:moveTo>
                <a:lnTo>
                  <a:pt x="3295650" y="0"/>
                </a:lnTo>
                <a:cubicBezTo>
                  <a:pt x="3348255" y="0"/>
                  <a:pt x="3390900" y="42645"/>
                  <a:pt x="3390900" y="95250"/>
                </a:cubicBezTo>
                <a:lnTo>
                  <a:pt x="3390900" y="1047750"/>
                </a:lnTo>
                <a:cubicBezTo>
                  <a:pt x="3390900" y="1100355"/>
                  <a:pt x="3348255" y="1143000"/>
                  <a:pt x="32956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7F8FA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7965758" y="3977164"/>
            <a:ext cx="140105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政府与政企合作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68615" y="4249102"/>
            <a:ext cx="16445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对接体育/冰雪经济项目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968615" y="44777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纳入智慧场馆建设方案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968615" y="470630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政府采购渠道推进</a:t>
            </a:r>
          </a:p>
        </p:txBody>
      </p:sp>
      <p:sp>
        <p:nvSpPr>
          <p:cNvPr id="40" name="Freeform 40"/>
          <p:cNvSpPr/>
          <p:nvPr/>
        </p:nvSpPr>
        <p:spPr>
          <a:xfrm>
            <a:off x="666750" y="5143500"/>
            <a:ext cx="3352800" cy="1143000"/>
          </a:xfrm>
          <a:custGeom>
            <a:avLst/>
            <a:gdLst/>
            <a:ahLst/>
            <a:cxnLst/>
            <a:rect l="l" t="t" r="r" b="b"/>
            <a:pathLst>
              <a:path w="3352800" h="1143000">
                <a:moveTo>
                  <a:pt x="95250" y="0"/>
                </a:moveTo>
                <a:lnTo>
                  <a:pt x="3257550" y="0"/>
                </a:lnTo>
                <a:cubicBezTo>
                  <a:pt x="3310155" y="0"/>
                  <a:pt x="3352800" y="42645"/>
                  <a:pt x="3352800" y="95250"/>
                </a:cubicBezTo>
                <a:lnTo>
                  <a:pt x="3352800" y="1047750"/>
                </a:lnTo>
                <a:cubicBezTo>
                  <a:pt x="3352800" y="1100355"/>
                  <a:pt x="3310155" y="1143000"/>
                  <a:pt x="32575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7F8FA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41058" y="5291614"/>
            <a:ext cx="101000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渠道与代理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43915" y="5563552"/>
            <a:ext cx="14911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发展区域代理/集成商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43915" y="579215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借渠道覆盖广覆盖</a:t>
            </a:r>
          </a:p>
        </p:txBody>
      </p:sp>
      <p:sp>
        <p:nvSpPr>
          <p:cNvPr id="44" name="Freeform 44"/>
          <p:cNvSpPr/>
          <p:nvPr/>
        </p:nvSpPr>
        <p:spPr>
          <a:xfrm>
            <a:off x="4191000" y="5143500"/>
            <a:ext cx="3409950" cy="1143000"/>
          </a:xfrm>
          <a:custGeom>
            <a:avLst/>
            <a:gdLst/>
            <a:ahLst/>
            <a:cxnLst/>
            <a:rect l="l" t="t" r="r" b="b"/>
            <a:pathLst>
              <a:path w="3409950" h="1143000">
                <a:moveTo>
                  <a:pt x="95250" y="0"/>
                </a:moveTo>
                <a:lnTo>
                  <a:pt x="3314700" y="0"/>
                </a:lnTo>
                <a:cubicBezTo>
                  <a:pt x="3367305" y="0"/>
                  <a:pt x="3409950" y="42645"/>
                  <a:pt x="3409950" y="95250"/>
                </a:cubicBezTo>
                <a:lnTo>
                  <a:pt x="3409950" y="1047750"/>
                </a:lnTo>
                <a:cubicBezTo>
                  <a:pt x="3409950" y="1100355"/>
                  <a:pt x="3367305" y="1143000"/>
                  <a:pt x="331470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7F8FA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4365308" y="5291614"/>
            <a:ext cx="140105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服务与延续销售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368165" y="556355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安装、运维增值服务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368165" y="5792152"/>
            <a:ext cx="13301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SaaS 续费持续收入</a:t>
            </a:r>
          </a:p>
        </p:txBody>
      </p:sp>
      <p:sp>
        <p:nvSpPr>
          <p:cNvPr id="48" name="Freeform 48"/>
          <p:cNvSpPr/>
          <p:nvPr/>
        </p:nvSpPr>
        <p:spPr>
          <a:xfrm>
            <a:off x="7772400" y="5143500"/>
            <a:ext cx="3409950" cy="1143000"/>
          </a:xfrm>
          <a:custGeom>
            <a:avLst/>
            <a:gdLst/>
            <a:ahLst/>
            <a:cxnLst/>
            <a:rect l="l" t="t" r="r" b="b"/>
            <a:pathLst>
              <a:path w="3409950" h="1143000">
                <a:moveTo>
                  <a:pt x="95250" y="0"/>
                </a:moveTo>
                <a:lnTo>
                  <a:pt x="3314700" y="0"/>
                </a:lnTo>
                <a:cubicBezTo>
                  <a:pt x="3367305" y="0"/>
                  <a:pt x="3409950" y="42645"/>
                  <a:pt x="3409950" y="95250"/>
                </a:cubicBezTo>
                <a:lnTo>
                  <a:pt x="3409950" y="1047750"/>
                </a:lnTo>
                <a:cubicBezTo>
                  <a:pt x="3409950" y="1100355"/>
                  <a:pt x="3367305" y="1143000"/>
                  <a:pt x="331470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7F8FA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7946708" y="5291614"/>
            <a:ext cx="12055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口碑与转介绍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49565" y="556355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标杆基地带来转介绍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949565" y="579215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协会圈层裂变传播</a:t>
            </a:r>
          </a:p>
        </p:txBody>
      </p:sp>
      <p:sp>
        <p:nvSpPr>
          <p:cNvPr id="52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096625" y="6524625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fld id="{8B3F1C2A-4D6E-4A11-9C3B-0F1E2D3C4B5A}" type="slidenum">
              <a:rPr lang="zh-CN" sz="1050" dirty="0">
                <a:solidFill>
                  <a:srgbClr val="666666"/>
                </a:solidFill>
                <a:latin typeface="Microsoft YaHei"/>
                <a:ea typeface="微软雅黑"/>
              </a:rPr>
              <a:t>1</a:t>
            </a:fld>
            <a:endParaRPr lang="zh-CN" sz="10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2460" y="39433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盈利模式与扩展路线</a:t>
            </a:r>
          </a:p>
        </p:txBody>
      </p:sp>
      <p:sp>
        <p:nvSpPr>
          <p:cNvPr id="3" name="Rectangle 3"/>
          <p:cNvSpPr/>
          <p:nvPr/>
        </p:nvSpPr>
        <p:spPr>
          <a:xfrm>
            <a:off x="666750" y="857250"/>
            <a:ext cx="1143000" cy="57150"/>
          </a:xfrm>
          <a:prstGeom prst="rect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2462" y="1021556"/>
            <a:ext cx="26574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四大盈利模式叠加，分阶段规模扩展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7700" y="1314450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四大盈利模式</a:t>
            </a:r>
          </a:p>
        </p:txBody>
      </p:sp>
      <p:sp>
        <p:nvSpPr>
          <p:cNvPr id="6" name="Freeform 6"/>
          <p:cNvSpPr/>
          <p:nvPr/>
        </p:nvSpPr>
        <p:spPr>
          <a:xfrm>
            <a:off x="666750" y="1600200"/>
            <a:ext cx="2571750" cy="1428750"/>
          </a:xfrm>
          <a:custGeom>
            <a:avLst/>
            <a:gdLst/>
            <a:ahLst/>
            <a:cxnLst/>
            <a:rect l="l" t="t" r="r" b="b"/>
            <a:pathLst>
              <a:path w="2571750" h="142875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42645"/>
                  <a:pt x="2571750" y="95250"/>
                </a:cubicBezTo>
                <a:lnTo>
                  <a:pt x="2571750" y="1333500"/>
                </a:lnTo>
                <a:cubicBezTo>
                  <a:pt x="2571750" y="1386105"/>
                  <a:pt x="2529105" y="1428750"/>
                  <a:pt x="24765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666750" y="1600200"/>
            <a:ext cx="2571750" cy="438150"/>
          </a:xfrm>
          <a:custGeom>
            <a:avLst/>
            <a:gdLst/>
            <a:ahLst/>
            <a:cxnLst/>
            <a:rect l="l" t="t" r="r" b="b"/>
            <a:pathLst>
              <a:path w="2571750" h="43815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42645"/>
                  <a:pt x="2571750" y="95250"/>
                </a:cubicBezTo>
                <a:lnTo>
                  <a:pt x="2571750" y="342900"/>
                </a:lnTo>
                <a:cubicBezTo>
                  <a:pt x="2571750" y="395505"/>
                  <a:pt x="2529105" y="438150"/>
                  <a:pt x="2476500" y="438150"/>
                </a:cubicBezTo>
                <a:lnTo>
                  <a:pt x="95250" y="438150"/>
                </a:lnTo>
                <a:cubicBezTo>
                  <a:pt x="42645" y="438150"/>
                  <a:pt x="0" y="395505"/>
                  <a:pt x="0" y="3429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078D7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545384" y="1729264"/>
            <a:ext cx="8144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硬件销售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45419" y="2183606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四档设备销售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27572" y="2450306"/>
            <a:ext cx="850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一次性收入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59743" y="2725102"/>
            <a:ext cx="7857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¥499~3999</a:t>
            </a:r>
          </a:p>
        </p:txBody>
      </p:sp>
      <p:sp>
        <p:nvSpPr>
          <p:cNvPr id="12" name="Freeform 12"/>
          <p:cNvSpPr/>
          <p:nvPr/>
        </p:nvSpPr>
        <p:spPr>
          <a:xfrm>
            <a:off x="3390900" y="1600200"/>
            <a:ext cx="2571750" cy="1428750"/>
          </a:xfrm>
          <a:custGeom>
            <a:avLst/>
            <a:gdLst/>
            <a:ahLst/>
            <a:cxnLst/>
            <a:rect l="l" t="t" r="r" b="b"/>
            <a:pathLst>
              <a:path w="2571750" h="142875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42645"/>
                  <a:pt x="2571750" y="95250"/>
                </a:cubicBezTo>
                <a:lnTo>
                  <a:pt x="2571750" y="1333500"/>
                </a:lnTo>
                <a:cubicBezTo>
                  <a:pt x="2571750" y="1386105"/>
                  <a:pt x="2529105" y="1428750"/>
                  <a:pt x="24765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3390900" y="1600200"/>
            <a:ext cx="2571750" cy="438150"/>
          </a:xfrm>
          <a:custGeom>
            <a:avLst/>
            <a:gdLst/>
            <a:ahLst/>
            <a:cxnLst/>
            <a:rect l="l" t="t" r="r" b="b"/>
            <a:pathLst>
              <a:path w="2571750" h="43815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42645"/>
                  <a:pt x="2571750" y="95250"/>
                </a:cubicBezTo>
                <a:lnTo>
                  <a:pt x="2571750" y="342900"/>
                </a:lnTo>
                <a:cubicBezTo>
                  <a:pt x="2571750" y="395505"/>
                  <a:pt x="2529105" y="438150"/>
                  <a:pt x="2476500" y="438150"/>
                </a:cubicBezTo>
                <a:lnTo>
                  <a:pt x="95250" y="438150"/>
                </a:lnTo>
                <a:cubicBezTo>
                  <a:pt x="42645" y="438150"/>
                  <a:pt x="0" y="395505"/>
                  <a:pt x="0" y="3429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4CA1E7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220653" y="1729264"/>
            <a:ext cx="91224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SaaS 订阅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69569" y="2183606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平台年费订阅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51722" y="2450306"/>
            <a:ext cx="850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持续性收入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07216" y="2725102"/>
            <a:ext cx="9391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¥299~899/年</a:t>
            </a:r>
          </a:p>
        </p:txBody>
      </p:sp>
      <p:sp>
        <p:nvSpPr>
          <p:cNvPr id="18" name="Freeform 18"/>
          <p:cNvSpPr/>
          <p:nvPr/>
        </p:nvSpPr>
        <p:spPr>
          <a:xfrm>
            <a:off x="6115050" y="1600200"/>
            <a:ext cx="2571750" cy="1428750"/>
          </a:xfrm>
          <a:custGeom>
            <a:avLst/>
            <a:gdLst/>
            <a:ahLst/>
            <a:cxnLst/>
            <a:rect l="l" t="t" r="r" b="b"/>
            <a:pathLst>
              <a:path w="2571750" h="142875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42645"/>
                  <a:pt x="2571750" y="95250"/>
                </a:cubicBezTo>
                <a:lnTo>
                  <a:pt x="2571750" y="1333500"/>
                </a:lnTo>
                <a:cubicBezTo>
                  <a:pt x="2571750" y="1386105"/>
                  <a:pt x="2529105" y="1428750"/>
                  <a:pt x="24765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19" name="Freeform 19"/>
          <p:cNvSpPr/>
          <p:nvPr/>
        </p:nvSpPr>
        <p:spPr>
          <a:xfrm>
            <a:off x="6115050" y="1600200"/>
            <a:ext cx="2571750" cy="438150"/>
          </a:xfrm>
          <a:custGeom>
            <a:avLst/>
            <a:gdLst/>
            <a:ahLst/>
            <a:cxnLst/>
            <a:rect l="l" t="t" r="r" b="b"/>
            <a:pathLst>
              <a:path w="2571750" h="43815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42645"/>
                  <a:pt x="2571750" y="95250"/>
                </a:cubicBezTo>
                <a:lnTo>
                  <a:pt x="2571750" y="342900"/>
                </a:lnTo>
                <a:cubicBezTo>
                  <a:pt x="2571750" y="395505"/>
                  <a:pt x="2529105" y="438150"/>
                  <a:pt x="2476500" y="438150"/>
                </a:cubicBezTo>
                <a:lnTo>
                  <a:pt x="95250" y="438150"/>
                </a:lnTo>
                <a:cubicBezTo>
                  <a:pt x="42645" y="438150"/>
                  <a:pt x="0" y="395505"/>
                  <a:pt x="0" y="3429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078D7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993684" y="1729264"/>
            <a:ext cx="8144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增值服务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29412" y="2183606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安装、运维、定制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93719" y="2450306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项目管理服务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916031" y="2725102"/>
            <a:ext cx="9697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按次 / 按项目</a:t>
            </a:r>
          </a:p>
        </p:txBody>
      </p:sp>
      <p:sp>
        <p:nvSpPr>
          <p:cNvPr id="24" name="Freeform 24"/>
          <p:cNvSpPr/>
          <p:nvPr/>
        </p:nvSpPr>
        <p:spPr>
          <a:xfrm>
            <a:off x="8839200" y="1600200"/>
            <a:ext cx="2571750" cy="1428750"/>
          </a:xfrm>
          <a:custGeom>
            <a:avLst/>
            <a:gdLst/>
            <a:ahLst/>
            <a:cxnLst/>
            <a:rect l="l" t="t" r="r" b="b"/>
            <a:pathLst>
              <a:path w="2571750" h="142875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42645"/>
                  <a:pt x="2571750" y="95250"/>
                </a:cubicBezTo>
                <a:lnTo>
                  <a:pt x="2571750" y="1333500"/>
                </a:lnTo>
                <a:cubicBezTo>
                  <a:pt x="2571750" y="1386105"/>
                  <a:pt x="2529105" y="1428750"/>
                  <a:pt x="24765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25" name="Freeform 25"/>
          <p:cNvSpPr/>
          <p:nvPr/>
        </p:nvSpPr>
        <p:spPr>
          <a:xfrm>
            <a:off x="8839200" y="1600200"/>
            <a:ext cx="2571750" cy="438150"/>
          </a:xfrm>
          <a:custGeom>
            <a:avLst/>
            <a:gdLst/>
            <a:ahLst/>
            <a:cxnLst/>
            <a:rect l="l" t="t" r="r" b="b"/>
            <a:pathLst>
              <a:path w="2571750" h="43815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42645"/>
                  <a:pt x="2571750" y="95250"/>
                </a:cubicBezTo>
                <a:lnTo>
                  <a:pt x="2571750" y="342900"/>
                </a:lnTo>
                <a:cubicBezTo>
                  <a:pt x="2571750" y="395505"/>
                  <a:pt x="2529105" y="438150"/>
                  <a:pt x="2476500" y="438150"/>
                </a:cubicBezTo>
                <a:lnTo>
                  <a:pt x="95250" y="438150"/>
                </a:lnTo>
                <a:cubicBezTo>
                  <a:pt x="42645" y="438150"/>
                  <a:pt x="0" y="395505"/>
                  <a:pt x="0" y="3429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02E5D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620071" y="1729264"/>
            <a:ext cx="101000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赞助与广告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535716" y="2183606"/>
            <a:ext cx="1178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赛事赞助、冠名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617869" y="2450306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品牌曝光合作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805035" y="27251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商务合作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47700" y="3267075"/>
            <a:ext cx="16483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四阶段扩展路线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66750" y="3600450"/>
            <a:ext cx="10744200" cy="76200"/>
          </a:xfrm>
          <a:prstGeom prst="rect">
            <a:avLst/>
          </a:prstGeom>
          <a:solidFill>
            <a:srgbClr val="D5E6F8"/>
          </a:solidFill>
          <a:ln>
            <a:noFill/>
          </a:ln>
        </p:spPr>
      </p:sp>
      <p:sp>
        <p:nvSpPr>
          <p:cNvPr id="32" name="Freeform 32"/>
          <p:cNvSpPr/>
          <p:nvPr/>
        </p:nvSpPr>
        <p:spPr>
          <a:xfrm>
            <a:off x="666750" y="3562350"/>
            <a:ext cx="2686050" cy="152400"/>
          </a:xfrm>
          <a:custGeom>
            <a:avLst/>
            <a:gdLst/>
            <a:ahLst/>
            <a:cxnLst/>
            <a:rect l="l" t="t" r="r" b="b"/>
            <a:pathLst>
              <a:path w="2686050" h="152400">
                <a:moveTo>
                  <a:pt x="76200" y="0"/>
                </a:moveTo>
                <a:lnTo>
                  <a:pt x="2609850" y="0"/>
                </a:lnTo>
                <a:cubicBezTo>
                  <a:pt x="2651934" y="0"/>
                  <a:pt x="2686050" y="34116"/>
                  <a:pt x="2686050" y="76200"/>
                </a:cubicBezTo>
                <a:lnTo>
                  <a:pt x="2686050" y="76200"/>
                </a:lnTo>
                <a:cubicBezTo>
                  <a:pt x="2686050" y="118284"/>
                  <a:pt x="2651934" y="152400"/>
                  <a:pt x="2609850" y="152400"/>
                </a:cubicBezTo>
                <a:lnTo>
                  <a:pt x="76200" y="152400"/>
                </a:lnTo>
                <a:cubicBezTo>
                  <a:pt x="34116" y="152400"/>
                  <a:pt x="0" y="118284"/>
                  <a:pt x="0" y="76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78D7"/>
          </a:solidFill>
          <a:ln>
            <a:noFill/>
          </a:ln>
        </p:spPr>
      </p:sp>
      <p:sp>
        <p:nvSpPr>
          <p:cNvPr id="33" name="Freeform 33"/>
          <p:cNvSpPr/>
          <p:nvPr/>
        </p:nvSpPr>
        <p:spPr>
          <a:xfrm>
            <a:off x="3352800" y="3562350"/>
            <a:ext cx="2686050" cy="152400"/>
          </a:xfrm>
          <a:custGeom>
            <a:avLst/>
            <a:gdLst/>
            <a:ahLst/>
            <a:cxnLst/>
            <a:rect l="l" t="t" r="r" b="b"/>
            <a:pathLst>
              <a:path w="2686050" h="152400">
                <a:moveTo>
                  <a:pt x="76200" y="0"/>
                </a:moveTo>
                <a:lnTo>
                  <a:pt x="2609850" y="0"/>
                </a:lnTo>
                <a:cubicBezTo>
                  <a:pt x="2651934" y="0"/>
                  <a:pt x="2686050" y="34116"/>
                  <a:pt x="2686050" y="76200"/>
                </a:cubicBezTo>
                <a:lnTo>
                  <a:pt x="2686050" y="76200"/>
                </a:lnTo>
                <a:cubicBezTo>
                  <a:pt x="2686050" y="118284"/>
                  <a:pt x="2651934" y="152400"/>
                  <a:pt x="2609850" y="152400"/>
                </a:cubicBezTo>
                <a:lnTo>
                  <a:pt x="76200" y="152400"/>
                </a:lnTo>
                <a:cubicBezTo>
                  <a:pt x="34116" y="152400"/>
                  <a:pt x="0" y="118284"/>
                  <a:pt x="0" y="76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CA1E7"/>
          </a:solidFill>
          <a:ln>
            <a:noFill/>
          </a:ln>
        </p:spPr>
      </p:sp>
      <p:sp>
        <p:nvSpPr>
          <p:cNvPr id="34" name="Freeform 34"/>
          <p:cNvSpPr/>
          <p:nvPr/>
        </p:nvSpPr>
        <p:spPr>
          <a:xfrm>
            <a:off x="6038850" y="3562350"/>
            <a:ext cx="2686050" cy="152400"/>
          </a:xfrm>
          <a:custGeom>
            <a:avLst/>
            <a:gdLst/>
            <a:ahLst/>
            <a:cxnLst/>
            <a:rect l="l" t="t" r="r" b="b"/>
            <a:pathLst>
              <a:path w="2686050" h="152400">
                <a:moveTo>
                  <a:pt x="76200" y="0"/>
                </a:moveTo>
                <a:lnTo>
                  <a:pt x="2609850" y="0"/>
                </a:lnTo>
                <a:cubicBezTo>
                  <a:pt x="2651934" y="0"/>
                  <a:pt x="2686050" y="34116"/>
                  <a:pt x="2686050" y="76200"/>
                </a:cubicBezTo>
                <a:lnTo>
                  <a:pt x="2686050" y="76200"/>
                </a:lnTo>
                <a:cubicBezTo>
                  <a:pt x="2686050" y="118284"/>
                  <a:pt x="2651934" y="152400"/>
                  <a:pt x="2609850" y="152400"/>
                </a:cubicBezTo>
                <a:lnTo>
                  <a:pt x="76200" y="152400"/>
                </a:lnTo>
                <a:cubicBezTo>
                  <a:pt x="34116" y="152400"/>
                  <a:pt x="0" y="118284"/>
                  <a:pt x="0" y="76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CA1E7"/>
          </a:solidFill>
          <a:ln>
            <a:noFill/>
          </a:ln>
        </p:spPr>
      </p:sp>
      <p:sp>
        <p:nvSpPr>
          <p:cNvPr id="35" name="Freeform 35"/>
          <p:cNvSpPr/>
          <p:nvPr/>
        </p:nvSpPr>
        <p:spPr>
          <a:xfrm>
            <a:off x="8724900" y="3562350"/>
            <a:ext cx="2686050" cy="152400"/>
          </a:xfrm>
          <a:custGeom>
            <a:avLst/>
            <a:gdLst/>
            <a:ahLst/>
            <a:cxnLst/>
            <a:rect l="l" t="t" r="r" b="b"/>
            <a:pathLst>
              <a:path w="2686050" h="152400">
                <a:moveTo>
                  <a:pt x="76200" y="0"/>
                </a:moveTo>
                <a:lnTo>
                  <a:pt x="2609850" y="0"/>
                </a:lnTo>
                <a:cubicBezTo>
                  <a:pt x="2651934" y="0"/>
                  <a:pt x="2686050" y="34116"/>
                  <a:pt x="2686050" y="76200"/>
                </a:cubicBezTo>
                <a:lnTo>
                  <a:pt x="2686050" y="76200"/>
                </a:lnTo>
                <a:cubicBezTo>
                  <a:pt x="2686050" y="118284"/>
                  <a:pt x="2651934" y="152400"/>
                  <a:pt x="2609850" y="152400"/>
                </a:cubicBezTo>
                <a:lnTo>
                  <a:pt x="76200" y="152400"/>
                </a:lnTo>
                <a:cubicBezTo>
                  <a:pt x="34116" y="152400"/>
                  <a:pt x="0" y="118284"/>
                  <a:pt x="0" y="76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78D7"/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1819275" y="3448050"/>
            <a:ext cx="381000" cy="381000"/>
          </a:xfrm>
          <a:prstGeom prst="ellipse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864209" y="3543300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P0</a:t>
            </a:r>
          </a:p>
        </p:txBody>
      </p:sp>
      <p:sp>
        <p:nvSpPr>
          <p:cNvPr id="38" name="Ellipse 38"/>
          <p:cNvSpPr/>
          <p:nvPr/>
        </p:nvSpPr>
        <p:spPr>
          <a:xfrm>
            <a:off x="4505325" y="3448050"/>
            <a:ext cx="381000" cy="381000"/>
          </a:xfrm>
          <a:prstGeom prst="ellipse">
            <a:avLst/>
          </a:prstGeom>
          <a:solidFill>
            <a:srgbClr val="4CA1E7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579013" y="3543300"/>
            <a:ext cx="23362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P1</a:t>
            </a:r>
          </a:p>
        </p:txBody>
      </p:sp>
      <p:sp>
        <p:nvSpPr>
          <p:cNvPr id="40" name="Ellipse 40"/>
          <p:cNvSpPr/>
          <p:nvPr/>
        </p:nvSpPr>
        <p:spPr>
          <a:xfrm>
            <a:off x="7191375" y="3448050"/>
            <a:ext cx="381000" cy="381000"/>
          </a:xfrm>
          <a:prstGeom prst="ellipse">
            <a:avLst/>
          </a:prstGeom>
          <a:solidFill>
            <a:srgbClr val="4CA1E7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7236309" y="3543300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P2</a:t>
            </a:r>
          </a:p>
        </p:txBody>
      </p:sp>
      <p:sp>
        <p:nvSpPr>
          <p:cNvPr id="42" name="Ellipse 42"/>
          <p:cNvSpPr/>
          <p:nvPr/>
        </p:nvSpPr>
        <p:spPr>
          <a:xfrm>
            <a:off x="9877425" y="3448050"/>
            <a:ext cx="381000" cy="381000"/>
          </a:xfrm>
          <a:prstGeom prst="ellipse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9922359" y="3543300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P3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626489" y="39471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原型验证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88317" y="4200049"/>
            <a:ext cx="10429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样机 + 试点基地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641396" y="440959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跑通全流程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340142" y="3947160"/>
            <a:ext cx="71136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4CA1E7"/>
                </a:solidFill>
                <a:latin typeface="Microsoft YaHei"/>
                <a:ea typeface="Microsoft YaHei"/>
                <a:cs typeface="Microsoft YaHei"/>
              </a:rPr>
              <a:t>10+ 基地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256246" y="42000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东北区域复制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256246" y="44095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建立标杆网络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998589" y="39471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4CA1E7"/>
                </a:solidFill>
                <a:latin typeface="Microsoft YaHei"/>
                <a:ea typeface="Microsoft YaHei"/>
                <a:cs typeface="Microsoft YaHei"/>
              </a:rPr>
              <a:t>全国推广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860417" y="4200049"/>
            <a:ext cx="10429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渠道 + 团队扩张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871097" y="44095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覆盖全国冬泳点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776650" y="394716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平台化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628346" y="42000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开放数据生态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628346" y="44095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行业标准输出</a:t>
            </a:r>
          </a:p>
        </p:txBody>
      </p:sp>
      <p:sp>
        <p:nvSpPr>
          <p:cNvPr id="56" name="Freeform 56"/>
          <p:cNvSpPr/>
          <p:nvPr/>
        </p:nvSpPr>
        <p:spPr>
          <a:xfrm>
            <a:off x="666750" y="4857750"/>
            <a:ext cx="10744200" cy="857250"/>
          </a:xfrm>
          <a:custGeom>
            <a:avLst/>
            <a:gdLst/>
            <a:ahLst/>
            <a:cxnLst/>
            <a:rect l="l" t="t" r="r" b="b"/>
            <a:pathLst>
              <a:path w="10744200" h="857250">
                <a:moveTo>
                  <a:pt x="95250" y="0"/>
                </a:moveTo>
                <a:lnTo>
                  <a:pt x="10648950" y="0"/>
                </a:lnTo>
                <a:cubicBezTo>
                  <a:pt x="10701555" y="0"/>
                  <a:pt x="10744200" y="42645"/>
                  <a:pt x="10744200" y="95250"/>
                </a:cubicBezTo>
                <a:lnTo>
                  <a:pt x="10744200" y="762000"/>
                </a:lnTo>
                <a:cubicBezTo>
                  <a:pt x="10744200" y="814605"/>
                  <a:pt x="10701555" y="857250"/>
                  <a:pt x="10648950" y="857250"/>
                </a:cubicBezTo>
                <a:lnTo>
                  <a:pt x="95250" y="857250"/>
                </a:lnTo>
                <a:cubicBezTo>
                  <a:pt x="42645" y="857250"/>
                  <a:pt x="0" y="814605"/>
                  <a:pt x="0" y="76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02E5D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4256144" y="5084921"/>
            <a:ext cx="356541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路径清晰 · 从单一基地走向平台生态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875371" y="5392102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C4E3"/>
                </a:solidFill>
                <a:latin typeface="Microsoft YaHei"/>
                <a:ea typeface="Microsoft YaHei"/>
                <a:cs typeface="Microsoft YaHei"/>
              </a:rPr>
              <a:t>先验证、再复制、后扩张、终平台</a:t>
            </a:r>
          </a:p>
        </p:txBody>
      </p:sp>
      <p:sp>
        <p:nvSpPr>
          <p:cNvPr id="59" name="Freeform 59"/>
          <p:cNvSpPr/>
          <p:nvPr/>
        </p:nvSpPr>
        <p:spPr>
          <a:xfrm>
            <a:off x="666750" y="5905500"/>
            <a:ext cx="10744200" cy="666750"/>
          </a:xfrm>
          <a:custGeom>
            <a:avLst/>
            <a:gdLst/>
            <a:ahLst/>
            <a:cxnLst/>
            <a:rect l="l" t="t" r="r" b="b"/>
            <a:pathLst>
              <a:path w="10744200" h="666750">
                <a:moveTo>
                  <a:pt x="95250" y="0"/>
                </a:moveTo>
                <a:lnTo>
                  <a:pt x="10648950" y="0"/>
                </a:lnTo>
                <a:cubicBezTo>
                  <a:pt x="10701555" y="0"/>
                  <a:pt x="10744200" y="42645"/>
                  <a:pt x="10744200" y="95250"/>
                </a:cubicBezTo>
                <a:lnTo>
                  <a:pt x="10744200" y="571500"/>
                </a:lnTo>
                <a:cubicBezTo>
                  <a:pt x="10744200" y="624105"/>
                  <a:pt x="10701555" y="666750"/>
                  <a:pt x="10648950" y="666750"/>
                </a:cubicBezTo>
                <a:lnTo>
                  <a:pt x="95250" y="666750"/>
                </a:lnTo>
                <a:cubicBezTo>
                  <a:pt x="42645" y="666750"/>
                  <a:pt x="0" y="624105"/>
                  <a:pt x="0" y="571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842010" y="6176010"/>
            <a:ext cx="31588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四阶段循序渐进，稳扎稳打实现规模化</a:t>
            </a:r>
          </a:p>
        </p:txBody>
      </p:sp>
      <p:sp>
        <p:nvSpPr>
          <p:cNvPr id="61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096625" y="6524625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fld id="{8B3F1C2A-4D6E-4A11-9C3B-0F1E2D3C4B5A}" type="slidenum">
              <a:rPr lang="zh-CN" sz="1050" dirty="0">
                <a:solidFill>
                  <a:srgbClr val="666666"/>
                </a:solidFill>
                <a:latin typeface="Microsoft YaHei"/>
                <a:ea typeface="微软雅黑"/>
              </a:rPr>
              <a:t>1</a:t>
            </a:fld>
            <a:endParaRPr lang="zh-CN" sz="10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2460" y="39433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团队配置与方案总结</a:t>
            </a:r>
          </a:p>
        </p:txBody>
      </p:sp>
      <p:sp>
        <p:nvSpPr>
          <p:cNvPr id="3" name="Rectangle 3"/>
          <p:cNvSpPr/>
          <p:nvPr/>
        </p:nvSpPr>
        <p:spPr>
          <a:xfrm>
            <a:off x="666750" y="857250"/>
            <a:ext cx="1143000" cy="57150"/>
          </a:xfrm>
          <a:prstGeom prst="rect">
            <a:avLst/>
          </a:prstGeom>
          <a:solidFill>
            <a:srgbClr val="0078D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2462" y="1021556"/>
            <a:ext cx="26821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精简团队 + 明确分工，方案优势清晰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7700" y="13430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核心团队配置</a:t>
            </a:r>
          </a:p>
        </p:txBody>
      </p:sp>
      <p:sp>
        <p:nvSpPr>
          <p:cNvPr id="6" name="Freeform 6"/>
          <p:cNvSpPr/>
          <p:nvPr/>
        </p:nvSpPr>
        <p:spPr>
          <a:xfrm>
            <a:off x="666750" y="1638300"/>
            <a:ext cx="2571750" cy="1524000"/>
          </a:xfrm>
          <a:custGeom>
            <a:avLst/>
            <a:gdLst/>
            <a:ahLst/>
            <a:cxnLst/>
            <a:rect l="l" t="t" r="r" b="b"/>
            <a:pathLst>
              <a:path w="2571750" h="152400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42645"/>
                  <a:pt x="2571750" y="95250"/>
                </a:cubicBezTo>
                <a:lnTo>
                  <a:pt x="2571750" y="1428750"/>
                </a:lnTo>
                <a:cubicBezTo>
                  <a:pt x="2571750" y="1481355"/>
                  <a:pt x="2529105" y="1524000"/>
                  <a:pt x="2476500" y="1524000"/>
                </a:cubicBezTo>
                <a:lnTo>
                  <a:pt x="95250" y="1524000"/>
                </a:lnTo>
                <a:cubicBezTo>
                  <a:pt x="42645" y="1524000"/>
                  <a:pt x="0" y="1481355"/>
                  <a:pt x="0" y="1428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21428" y="19116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硬件研发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91055" y="2286952"/>
            <a:ext cx="1123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嵌入式 + 传感器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2556" y="257270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样机迭代与量产</a:t>
            </a:r>
          </a:p>
        </p:txBody>
      </p:sp>
      <p:sp>
        <p:nvSpPr>
          <p:cNvPr id="10" name="Freeform 10"/>
          <p:cNvSpPr/>
          <p:nvPr/>
        </p:nvSpPr>
        <p:spPr>
          <a:xfrm>
            <a:off x="3390900" y="1638300"/>
            <a:ext cx="2571750" cy="1524000"/>
          </a:xfrm>
          <a:custGeom>
            <a:avLst/>
            <a:gdLst/>
            <a:ahLst/>
            <a:cxnLst/>
            <a:rect l="l" t="t" r="r" b="b"/>
            <a:pathLst>
              <a:path w="2571750" h="152400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42645"/>
                  <a:pt x="2571750" y="95250"/>
                </a:cubicBezTo>
                <a:lnTo>
                  <a:pt x="2571750" y="1428750"/>
                </a:lnTo>
                <a:cubicBezTo>
                  <a:pt x="2571750" y="1481355"/>
                  <a:pt x="2529105" y="1524000"/>
                  <a:pt x="2476500" y="1524000"/>
                </a:cubicBezTo>
                <a:lnTo>
                  <a:pt x="95250" y="1524000"/>
                </a:lnTo>
                <a:cubicBezTo>
                  <a:pt x="42645" y="1524000"/>
                  <a:pt x="0" y="1481355"/>
                  <a:pt x="0" y="1428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349091" y="191166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云平台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61211" y="2286952"/>
            <a:ext cx="10311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IoT + 后端服务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26706" y="257270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数据与告警系统</a:t>
            </a:r>
          </a:p>
        </p:txBody>
      </p:sp>
      <p:sp>
        <p:nvSpPr>
          <p:cNvPr id="14" name="Freeform 14"/>
          <p:cNvSpPr/>
          <p:nvPr/>
        </p:nvSpPr>
        <p:spPr>
          <a:xfrm>
            <a:off x="6115050" y="1638300"/>
            <a:ext cx="2571750" cy="1524000"/>
          </a:xfrm>
          <a:custGeom>
            <a:avLst/>
            <a:gdLst/>
            <a:ahLst/>
            <a:cxnLst/>
            <a:rect l="l" t="t" r="r" b="b"/>
            <a:pathLst>
              <a:path w="2571750" h="152400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42645"/>
                  <a:pt x="2571750" y="95250"/>
                </a:cubicBezTo>
                <a:lnTo>
                  <a:pt x="2571750" y="1428750"/>
                </a:lnTo>
                <a:cubicBezTo>
                  <a:pt x="2571750" y="1481355"/>
                  <a:pt x="2529105" y="1524000"/>
                  <a:pt x="2476500" y="1524000"/>
                </a:cubicBezTo>
                <a:lnTo>
                  <a:pt x="95250" y="1524000"/>
                </a:lnTo>
                <a:cubicBezTo>
                  <a:pt x="42645" y="1524000"/>
                  <a:pt x="0" y="1481355"/>
                  <a:pt x="0" y="1428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969728" y="19116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销售市场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50856" y="228695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客户拓展与打法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50856" y="257270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渠道与政府对接</a:t>
            </a:r>
          </a:p>
        </p:txBody>
      </p:sp>
      <p:sp>
        <p:nvSpPr>
          <p:cNvPr id="18" name="Freeform 18"/>
          <p:cNvSpPr/>
          <p:nvPr/>
        </p:nvSpPr>
        <p:spPr>
          <a:xfrm>
            <a:off x="8839200" y="1638300"/>
            <a:ext cx="2571750" cy="1524000"/>
          </a:xfrm>
          <a:custGeom>
            <a:avLst/>
            <a:gdLst/>
            <a:ahLst/>
            <a:cxnLst/>
            <a:rect l="l" t="t" r="r" b="b"/>
            <a:pathLst>
              <a:path w="2571750" h="152400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42645"/>
                  <a:pt x="2571750" y="95250"/>
                </a:cubicBezTo>
                <a:lnTo>
                  <a:pt x="2571750" y="1428750"/>
                </a:lnTo>
                <a:cubicBezTo>
                  <a:pt x="2571750" y="1481355"/>
                  <a:pt x="2529105" y="1524000"/>
                  <a:pt x="2476500" y="1524000"/>
                </a:cubicBezTo>
                <a:lnTo>
                  <a:pt x="95250" y="1524000"/>
                </a:lnTo>
                <a:cubicBezTo>
                  <a:pt x="42645" y="1524000"/>
                  <a:pt x="0" y="1481355"/>
                  <a:pt x="0" y="1428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693878" y="19116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运营售后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28359" y="22869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安装与运维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51682" y="25727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客户成功服务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7700" y="334327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方案核心总结</a:t>
            </a:r>
          </a:p>
        </p:txBody>
      </p:sp>
      <p:sp>
        <p:nvSpPr>
          <p:cNvPr id="23" name="Freeform 23"/>
          <p:cNvSpPr/>
          <p:nvPr/>
        </p:nvSpPr>
        <p:spPr>
          <a:xfrm>
            <a:off x="666750" y="3638550"/>
            <a:ext cx="2057400" cy="1143000"/>
          </a:xfrm>
          <a:custGeom>
            <a:avLst/>
            <a:gdLst/>
            <a:ahLst/>
            <a:cxnLst/>
            <a:rect l="l" t="t" r="r" b="b"/>
            <a:pathLst>
              <a:path w="2057400" h="1143000">
                <a:moveTo>
                  <a:pt x="95250" y="0"/>
                </a:moveTo>
                <a:lnTo>
                  <a:pt x="1962150" y="0"/>
                </a:lnTo>
                <a:cubicBezTo>
                  <a:pt x="2014755" y="0"/>
                  <a:pt x="2057400" y="42645"/>
                  <a:pt x="2057400" y="95250"/>
                </a:cubicBezTo>
                <a:lnTo>
                  <a:pt x="2057400" y="1047750"/>
                </a:lnTo>
                <a:cubicBezTo>
                  <a:pt x="2057400" y="1100355"/>
                  <a:pt x="2014755" y="1143000"/>
                  <a:pt x="19621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078D7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367766" y="393096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轻量化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34511" y="4276249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FE4FA"/>
                </a:solidFill>
                <a:latin typeface="Microsoft YaHei"/>
                <a:ea typeface="Microsoft YaHei"/>
                <a:cs typeface="Microsoft YaHei"/>
              </a:rPr>
              <a:t>部署快 运维易</a:t>
            </a:r>
          </a:p>
        </p:txBody>
      </p:sp>
      <p:sp>
        <p:nvSpPr>
          <p:cNvPr id="26" name="Freeform 26"/>
          <p:cNvSpPr/>
          <p:nvPr/>
        </p:nvSpPr>
        <p:spPr>
          <a:xfrm>
            <a:off x="2838450" y="3638550"/>
            <a:ext cx="2057400" cy="1143000"/>
          </a:xfrm>
          <a:custGeom>
            <a:avLst/>
            <a:gdLst/>
            <a:ahLst/>
            <a:cxnLst/>
            <a:rect l="l" t="t" r="r" b="b"/>
            <a:pathLst>
              <a:path w="2057400" h="1143000">
                <a:moveTo>
                  <a:pt x="95250" y="0"/>
                </a:moveTo>
                <a:lnTo>
                  <a:pt x="1962150" y="0"/>
                </a:lnTo>
                <a:cubicBezTo>
                  <a:pt x="2014755" y="0"/>
                  <a:pt x="2057400" y="42645"/>
                  <a:pt x="2057400" y="95250"/>
                </a:cubicBezTo>
                <a:lnTo>
                  <a:pt x="2057400" y="1047750"/>
                </a:lnTo>
                <a:cubicBezTo>
                  <a:pt x="2057400" y="1100355"/>
                  <a:pt x="2014755" y="1143000"/>
                  <a:pt x="19621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4CA1E7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539466" y="393096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低成本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06211" y="4276249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F1FB"/>
                </a:solidFill>
                <a:latin typeface="Microsoft YaHei"/>
                <a:ea typeface="Microsoft YaHei"/>
                <a:cs typeface="Microsoft YaHei"/>
              </a:rPr>
              <a:t>高毛利 易推广</a:t>
            </a:r>
          </a:p>
        </p:txBody>
      </p:sp>
      <p:sp>
        <p:nvSpPr>
          <p:cNvPr id="29" name="Freeform 29"/>
          <p:cNvSpPr/>
          <p:nvPr/>
        </p:nvSpPr>
        <p:spPr>
          <a:xfrm>
            <a:off x="5010150" y="3638550"/>
            <a:ext cx="2057400" cy="1143000"/>
          </a:xfrm>
          <a:custGeom>
            <a:avLst/>
            <a:gdLst/>
            <a:ahLst/>
            <a:cxnLst/>
            <a:rect l="l" t="t" r="r" b="b"/>
            <a:pathLst>
              <a:path w="2057400" h="1143000">
                <a:moveTo>
                  <a:pt x="95250" y="0"/>
                </a:moveTo>
                <a:lnTo>
                  <a:pt x="1962150" y="0"/>
                </a:lnTo>
                <a:cubicBezTo>
                  <a:pt x="2014755" y="0"/>
                  <a:pt x="2057400" y="42645"/>
                  <a:pt x="2057400" y="95250"/>
                </a:cubicBezTo>
                <a:lnTo>
                  <a:pt x="2057400" y="1047750"/>
                </a:lnTo>
                <a:cubicBezTo>
                  <a:pt x="2057400" y="1100355"/>
                  <a:pt x="2014755" y="1143000"/>
                  <a:pt x="19621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078D7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5607653" y="39309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多点部署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741670" y="42762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FE4FA"/>
                </a:solidFill>
                <a:latin typeface="Microsoft YaHei"/>
                <a:ea typeface="Microsoft YaHei"/>
                <a:cs typeface="Microsoft YaHei"/>
              </a:rPr>
              <a:t>监测精准</a:t>
            </a:r>
          </a:p>
        </p:txBody>
      </p:sp>
      <p:sp>
        <p:nvSpPr>
          <p:cNvPr id="32" name="Freeform 32"/>
          <p:cNvSpPr/>
          <p:nvPr/>
        </p:nvSpPr>
        <p:spPr>
          <a:xfrm>
            <a:off x="7181850" y="3638550"/>
            <a:ext cx="2057400" cy="1143000"/>
          </a:xfrm>
          <a:custGeom>
            <a:avLst/>
            <a:gdLst/>
            <a:ahLst/>
            <a:cxnLst/>
            <a:rect l="l" t="t" r="r" b="b"/>
            <a:pathLst>
              <a:path w="2057400" h="1143000">
                <a:moveTo>
                  <a:pt x="95250" y="0"/>
                </a:moveTo>
                <a:lnTo>
                  <a:pt x="1962150" y="0"/>
                </a:lnTo>
                <a:cubicBezTo>
                  <a:pt x="2014755" y="0"/>
                  <a:pt x="2057400" y="42645"/>
                  <a:pt x="2057400" y="95250"/>
                </a:cubicBezTo>
                <a:lnTo>
                  <a:pt x="2057400" y="1047750"/>
                </a:lnTo>
                <a:cubicBezTo>
                  <a:pt x="2057400" y="1100355"/>
                  <a:pt x="2014755" y="1143000"/>
                  <a:pt x="19621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4CA1E7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882866" y="393096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强告警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13370" y="42762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F1FB"/>
                </a:solidFill>
                <a:latin typeface="Microsoft YaHei"/>
                <a:ea typeface="Microsoft YaHei"/>
                <a:cs typeface="Microsoft YaHei"/>
              </a:rPr>
              <a:t>安全可靠</a:t>
            </a:r>
          </a:p>
        </p:txBody>
      </p:sp>
      <p:sp>
        <p:nvSpPr>
          <p:cNvPr id="35" name="Freeform 35"/>
          <p:cNvSpPr/>
          <p:nvPr/>
        </p:nvSpPr>
        <p:spPr>
          <a:xfrm>
            <a:off x="9353550" y="3638550"/>
            <a:ext cx="2057400" cy="1143000"/>
          </a:xfrm>
          <a:custGeom>
            <a:avLst/>
            <a:gdLst/>
            <a:ahLst/>
            <a:cxnLst/>
            <a:rect l="l" t="t" r="r" b="b"/>
            <a:pathLst>
              <a:path w="2057400" h="1143000">
                <a:moveTo>
                  <a:pt x="95250" y="0"/>
                </a:moveTo>
                <a:lnTo>
                  <a:pt x="1962150" y="0"/>
                </a:lnTo>
                <a:cubicBezTo>
                  <a:pt x="2014755" y="0"/>
                  <a:pt x="2057400" y="42645"/>
                  <a:pt x="2057400" y="95250"/>
                </a:cubicBezTo>
                <a:lnTo>
                  <a:pt x="2057400" y="1047750"/>
                </a:lnTo>
                <a:cubicBezTo>
                  <a:pt x="2057400" y="1100355"/>
                  <a:pt x="2014755" y="1143000"/>
                  <a:pt x="19621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02E5D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10054566" y="393096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可复制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013871" y="427624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0C4E3"/>
                </a:solidFill>
                <a:latin typeface="Microsoft YaHei"/>
                <a:ea typeface="Microsoft YaHei"/>
                <a:cs typeface="Microsoft YaHei"/>
              </a:rPr>
              <a:t>规模化扩展</a:t>
            </a:r>
          </a:p>
        </p:txBody>
      </p:sp>
      <p:sp>
        <p:nvSpPr>
          <p:cNvPr id="38" name="Freeform 38"/>
          <p:cNvSpPr/>
          <p:nvPr/>
        </p:nvSpPr>
        <p:spPr>
          <a:xfrm>
            <a:off x="666750" y="5048250"/>
            <a:ext cx="10744200" cy="1428750"/>
          </a:xfrm>
          <a:custGeom>
            <a:avLst/>
            <a:gdLst/>
            <a:ahLst/>
            <a:cxnLst/>
            <a:rect l="l" t="t" r="r" b="b"/>
            <a:pathLst>
              <a:path w="10744200" h="1428750">
                <a:moveTo>
                  <a:pt x="114300" y="0"/>
                </a:moveTo>
                <a:lnTo>
                  <a:pt x="10629900" y="0"/>
                </a:lnTo>
                <a:cubicBezTo>
                  <a:pt x="10693026" y="0"/>
                  <a:pt x="10744200" y="51174"/>
                  <a:pt x="10744200" y="114300"/>
                </a:cubicBezTo>
                <a:lnTo>
                  <a:pt x="10744200" y="1314450"/>
                </a:lnTo>
                <a:cubicBezTo>
                  <a:pt x="10744200" y="1377576"/>
                  <a:pt x="10693026" y="1428750"/>
                  <a:pt x="10629900" y="1428750"/>
                </a:cubicBezTo>
                <a:lnTo>
                  <a:pt x="114300" y="1428750"/>
                </a:lnTo>
                <a:cubicBezTo>
                  <a:pt x="51174" y="1428750"/>
                  <a:pt x="0" y="1377576"/>
                  <a:pt x="0" y="1314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002E5D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771305" y="5371148"/>
            <a:ext cx="453509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以极低成本，守护每一方冬泳冰水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932408" y="5844064"/>
            <a:ext cx="421288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A0C4E3"/>
                </a:solidFill>
                <a:latin typeface="Microsoft YaHei"/>
                <a:ea typeface="Microsoft YaHei"/>
                <a:cs typeface="Microsoft YaHei"/>
              </a:rPr>
              <a:t>实时监测 · 远程告警 · 数据可视化 · 可规模化复制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874419" y="6165056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B8DB8"/>
                </a:solidFill>
                <a:latin typeface="Microsoft YaHei"/>
                <a:ea typeface="Microsoft YaHei"/>
                <a:cs typeface="Microsoft YaHei"/>
              </a:rPr>
              <a:t>让温度可感知、可告警、可追溯</a:t>
            </a:r>
          </a:p>
        </p:txBody>
      </p:sp>
      <p:sp>
        <p:nvSpPr>
          <p:cNvPr id="42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096625" y="6524625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fld id="{8B3F1C2A-4D6E-4A11-9C3B-0F1E2D3C4B5A}" type="slidenum">
              <a:rPr lang="zh-CN" sz="1050" dirty="0">
                <a:solidFill>
                  <a:srgbClr val="666666"/>
                </a:solidFill>
                <a:latin typeface="Microsoft YaHei"/>
                <a:ea typeface="微软雅黑"/>
              </a:rPr>
              <a:t>1</a:t>
            </a:fld>
            <a:endParaRPr lang="zh-CN" sz="10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71213" y="2274570"/>
            <a:ext cx="3449574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谢谢观看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785711" y="3250882"/>
            <a:ext cx="462057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002E5D"/>
                </a:solidFill>
                <a:latin typeface="Microsoft YaHei"/>
                <a:ea typeface="Microsoft YaHei"/>
                <a:cs typeface="Microsoft YaHei"/>
              </a:rPr>
              <a:t>让每一度水温，都可感知、可告警、可追溯</a:t>
            </a:r>
          </a:p>
        </p:txBody>
      </p:sp>
      <p:sp>
        <p:nvSpPr>
          <p:cNvPr id="4" name="Freeform 4"/>
          <p:cNvSpPr/>
          <p:nvPr/>
        </p:nvSpPr>
        <p:spPr>
          <a:xfrm>
            <a:off x="4000500" y="4000500"/>
            <a:ext cx="4191000" cy="666750"/>
          </a:xfrm>
          <a:custGeom>
            <a:avLst/>
            <a:gdLst/>
            <a:ahLst/>
            <a:cxnLst/>
            <a:rect l="l" t="t" r="r" b="b"/>
            <a:pathLst>
              <a:path w="4191000" h="666750">
                <a:moveTo>
                  <a:pt x="114300" y="0"/>
                </a:moveTo>
                <a:lnTo>
                  <a:pt x="4076700" y="0"/>
                </a:lnTo>
                <a:cubicBezTo>
                  <a:pt x="4139826" y="0"/>
                  <a:pt x="4191000" y="51174"/>
                  <a:pt x="4191000" y="114300"/>
                </a:cubicBezTo>
                <a:lnTo>
                  <a:pt x="4191000" y="552450"/>
                </a:lnTo>
                <a:cubicBezTo>
                  <a:pt x="4191000" y="615576"/>
                  <a:pt x="4139826" y="666750"/>
                  <a:pt x="4076700" y="666750"/>
                </a:cubicBezTo>
                <a:lnTo>
                  <a:pt x="114300" y="666750"/>
                </a:lnTo>
                <a:cubicBezTo>
                  <a:pt x="51174" y="666750"/>
                  <a:pt x="0" y="615576"/>
                  <a:pt x="0" y="552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AF2F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59682" y="4223385"/>
            <a:ext cx="127263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78D7"/>
                </a:solidFill>
                <a:latin typeface="Microsoft YaHei"/>
                <a:ea typeface="Microsoft YaHei"/>
                <a:cs typeface="Microsoft YaHei"/>
              </a:rPr>
              <a:t>Q &amp; A 交流环节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6421" y="44857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欢迎交流探讨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36952" y="5212556"/>
            <a:ext cx="19180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iClaw 方案团队 · 2026-10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Tech Blue Business">
  <a:themeElements>
    <a:clrScheme name="Tech Blue Business">
      <a:dk1>
        <a:srgbClr val="333333"/>
      </a:dk1>
      <a:lt1>
        <a:srgbClr val="FFFFFF"/>
      </a:lt1>
      <a:dk2>
        <a:srgbClr val="002E5D"/>
      </a:dk2>
      <a:lt2>
        <a:srgbClr val="F5F5F7"/>
      </a:lt2>
      <a:accent1>
        <a:srgbClr val="0078D7"/>
      </a:accent1>
      <a:accent2>
        <a:srgbClr val="4CA1E7"/>
      </a:accent2>
      <a:accent3>
        <a:srgbClr val="A0C4E3"/>
      </a:accent3>
      <a:accent4>
        <a:srgbClr val="666666"/>
      </a:accent4>
      <a:accent5>
        <a:srgbClr val="E60012"/>
      </a:accent5>
      <a:accent6>
        <a:srgbClr val="0078D7"/>
      </a:accent6>
      <a:hlink>
        <a:srgbClr val="0078D7"/>
      </a:hlink>
      <a:folHlink>
        <a:srgbClr val="666666"/>
      </a:folHlink>
    </a:clrScheme>
    <a:fontScheme name="Tech Blue Business">
      <a:majorFont>
        <a:latin typeface="Microsoft YaHei"/>
        <a:ea typeface="微软雅黑"/>
        <a:cs typeface="Arial"/>
        <a:font script="Hans" typeface="微软雅黑"/>
      </a:majorFont>
      <a:minorFont>
        <a:latin typeface="Microsoft YaHei"/>
        <a:ea typeface="微软雅黑"/>
        <a:cs typeface="Arial"/>
        <a:font script="Hans" typeface="微软雅黑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